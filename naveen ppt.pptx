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0" r:id="rId1"/>
  </p:sldMasterIdLst>
  <p:notesMasterIdLst>
    <p:notesMasterId r:id="rId18"/>
  </p:notesMasterIdLst>
  <p:handoutMasterIdLst>
    <p:handoutMasterId r:id="rId19"/>
  </p:handoutMasterIdLst>
  <p:sldIdLst>
    <p:sldId id="287" r:id="rId2"/>
    <p:sldId id="331" r:id="rId3"/>
    <p:sldId id="330" r:id="rId4"/>
    <p:sldId id="321" r:id="rId5"/>
    <p:sldId id="322" r:id="rId6"/>
    <p:sldId id="318" r:id="rId7"/>
    <p:sldId id="333" r:id="rId8"/>
    <p:sldId id="334" r:id="rId9"/>
    <p:sldId id="336" r:id="rId10"/>
    <p:sldId id="337" r:id="rId11"/>
    <p:sldId id="338" r:id="rId12"/>
    <p:sldId id="342" r:id="rId13"/>
    <p:sldId id="343" r:id="rId14"/>
    <p:sldId id="347" r:id="rId15"/>
    <p:sldId id="348" r:id="rId16"/>
    <p:sldId id="294" r:id="rId17"/>
  </p:sldIdLst>
  <p:sldSz cx="18288000" cy="10287000"/>
  <p:notesSz cx="6858000" cy="9144000"/>
  <p:embeddedFontLst>
    <p:embeddedFont>
      <p:font typeface="Verdana" panose="020B0604030504040204" pitchFamily="34" charset="0"/>
      <p:regular r:id="rId20"/>
      <p:bold r:id="rId21"/>
      <p:italic r:id="rId22"/>
      <p:boldItalic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24" autoAdjust="0"/>
  </p:normalViewPr>
  <p:slideViewPr>
    <p:cSldViewPr snapToGrid="0">
      <p:cViewPr varScale="1">
        <p:scale>
          <a:sx n="52" d="100"/>
          <a:sy n="52" d="100"/>
        </p:scale>
        <p:origin x="8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FA86EE7-89B6-FEE2-F11A-B1C827A6F2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76B784-4FB6-471C-91EA-1AAA7047F172}" type="slidenum">
              <a:rPr lang="en-IN" smtClean="0"/>
              <a:pPr/>
              <a:t>‹#›</a:t>
            </a:fld>
            <a:endParaRPr lang="en-IN"/>
          </a:p>
        </p:txBody>
      </p:sp>
      <p:sp>
        <p:nvSpPr>
          <p:cNvPr id="9" name="Header Placeholder 8">
            <a:extLst>
              <a:ext uri="{FF2B5EF4-FFF2-40B4-BE49-F238E27FC236}">
                <a16:creationId xmlns:a16="http://schemas.microsoft.com/office/drawing/2014/main" id="{B6AE105E-16BB-A797-0565-5E95A0F7C51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dirty="0" err="1"/>
              <a:t>xvs</a:t>
            </a:r>
            <a:endParaRPr lang="en-IN" dirty="0"/>
          </a:p>
        </p:txBody>
      </p:sp>
      <p:sp>
        <p:nvSpPr>
          <p:cNvPr id="12" name="Date Placeholder 11">
            <a:extLst>
              <a:ext uri="{FF2B5EF4-FFF2-40B4-BE49-F238E27FC236}">
                <a16:creationId xmlns:a16="http://schemas.microsoft.com/office/drawing/2014/main" id="{F4D49AAD-8FE3-8291-6D10-5C0BCFBE0E7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F12033-2EDF-405D-A660-8698D41E1567}" type="datetime1">
              <a:rPr lang="en-US" smtClean="0"/>
              <a:pPr/>
              <a:t>5/6/2026</a:t>
            </a:fld>
            <a:endParaRPr lang="en-IN"/>
          </a:p>
        </p:txBody>
      </p:sp>
      <p:sp>
        <p:nvSpPr>
          <p:cNvPr id="14" name="Footer Placeholder 13">
            <a:extLst>
              <a:ext uri="{FF2B5EF4-FFF2-40B4-BE49-F238E27FC236}">
                <a16:creationId xmlns:a16="http://schemas.microsoft.com/office/drawing/2014/main" id="{23FBE854-ECCB-3414-A781-B2D310C20D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SAD</a:t>
            </a: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5T16:14:30.201"/>
    </inkml:context>
    <inkml:brush xml:id="br0">
      <inkml:brushProperty name="width" value="0.035" units="cm"/>
      <inkml:brushProperty name="height" value="0.035" units="cm"/>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5T16:15:17.210"/>
    </inkml:context>
    <inkml:brush xml:id="br0">
      <inkml:brushProperty name="width" value="0.035" units="cm"/>
      <inkml:brushProperty name="height" value="0.03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645920" y="1138428"/>
            <a:ext cx="15087600" cy="5349240"/>
          </a:xfrm>
        </p:spPr>
        <p:txBody>
          <a:bodyPr anchor="b">
            <a:normAutofit/>
          </a:bodyPr>
          <a:lstStyle>
            <a:lvl1pPr algn="l">
              <a:lnSpc>
                <a:spcPct val="85000"/>
              </a:lnSpc>
              <a:defRPr sz="12000" spc="-75"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650077" y="6683430"/>
            <a:ext cx="15087600" cy="1714500"/>
          </a:xfrm>
        </p:spPr>
        <p:txBody>
          <a:bodyPr lIns="91440" rIns="91440">
            <a:normAutofit/>
          </a:bodyPr>
          <a:lstStyle>
            <a:lvl1pPr marL="0" indent="0" algn="l">
              <a:buNone/>
              <a:defRPr sz="3600" cap="all" spc="300" baseline="0">
                <a:solidFill>
                  <a:schemeClr val="tx2"/>
                </a:solidFill>
                <a:latin typeface="+mj-lt"/>
              </a:defRPr>
            </a:lvl1pPr>
            <a:lvl2pPr marL="685800" indent="0" algn="ctr">
              <a:buNone/>
              <a:defRPr sz="3600"/>
            </a:lvl2pPr>
            <a:lvl3pPr marL="1371600" indent="0" algn="ctr">
              <a:buNone/>
              <a:defRPr sz="36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2A4A78-AB98-4C27-A03B-1FDB5F943EB5}" type="datetime4">
              <a:rPr lang="en-US" smtClean="0"/>
              <a:pPr/>
              <a:t>May 6,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6880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D00544-B2CB-480A-8E68-8A818093FCE5}" type="datetime4">
              <a:rPr lang="en-US" smtClean="0"/>
              <a:pPr/>
              <a:t>May 6,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337648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45920" y="1138428"/>
            <a:ext cx="15087600" cy="5349240"/>
          </a:xfrm>
        </p:spPr>
        <p:txBody>
          <a:bodyPr anchor="b" anchorCtr="0">
            <a:normAutofit/>
          </a:bodyPr>
          <a:lstStyle>
            <a:lvl1pPr>
              <a:lnSpc>
                <a:spcPct val="85000"/>
              </a:lnSpc>
              <a:defRPr sz="12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645920" y="6679692"/>
            <a:ext cx="15087600" cy="1714500"/>
          </a:xfrm>
        </p:spPr>
        <p:txBody>
          <a:bodyPr lIns="91440" rIns="91440" anchor="t" anchorCtr="0">
            <a:normAutofit/>
          </a:bodyPr>
          <a:lstStyle>
            <a:lvl1pPr marL="0" indent="0">
              <a:buNone/>
              <a:defRPr sz="3600" cap="all" spc="300" baseline="0">
                <a:solidFill>
                  <a:schemeClr val="tx2"/>
                </a:solidFill>
                <a:latin typeface="+mj-lt"/>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C21569-787D-4B28-BF58-C15BD049FF4C}" type="datetime4">
              <a:rPr lang="en-US" smtClean="0"/>
              <a:pPr/>
              <a:t>May 6,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69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645919" y="2768601"/>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326880" y="2768603"/>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689255-858F-4E3D-94A1-E1E39F87E4E8}" type="datetime4">
              <a:rPr lang="en-US" smtClean="0"/>
              <a:pPr/>
              <a:t>May 6, 2026</a:t>
            </a:fld>
            <a:endParaRPr lang="en-US"/>
          </a:p>
        </p:txBody>
      </p:sp>
      <p:sp>
        <p:nvSpPr>
          <p:cNvPr id="6" name="Footer Placeholder 5"/>
          <p:cNvSpPr>
            <a:spLocks noGrp="1"/>
          </p:cNvSpPr>
          <p:nvPr>
            <p:ph type="ftr" sz="quarter" idx="11"/>
          </p:nvPr>
        </p:nvSpPr>
        <p:spPr/>
        <p:txBody>
          <a:body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172548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4592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64592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32688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32688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F56071E2-7C69-E08A-1AFE-2E7A0032A58B}"/>
              </a:ext>
            </a:extLst>
          </p:cNvPr>
          <p:cNvSpPr>
            <a:spLocks noGrp="1"/>
          </p:cNvSpPr>
          <p:nvPr>
            <p:ph type="dt" sz="half" idx="10"/>
          </p:nvPr>
        </p:nvSpPr>
        <p:spPr/>
        <p:txBody>
          <a:bodyPr/>
          <a:lstStyle/>
          <a:p>
            <a:fld id="{A81B212C-96E6-4A1C-BD8B-5A9E1F64C4D6}" type="datetime4">
              <a:rPr lang="en-US" smtClean="0"/>
              <a:pPr/>
              <a:t>May 6, 2026</a:t>
            </a:fld>
            <a:endParaRPr lang="en-US"/>
          </a:p>
        </p:txBody>
      </p:sp>
      <p:sp>
        <p:nvSpPr>
          <p:cNvPr id="11" name="Footer Placeholder 10">
            <a:extLst>
              <a:ext uri="{FF2B5EF4-FFF2-40B4-BE49-F238E27FC236}">
                <a16:creationId xmlns:a16="http://schemas.microsoft.com/office/drawing/2014/main" id="{B66C106E-F7C0-F15E-EEAE-7574BABE5A8F}"/>
              </a:ext>
            </a:extLst>
          </p:cNvPr>
          <p:cNvSpPr>
            <a:spLocks noGrp="1"/>
          </p:cNvSpPr>
          <p:nvPr>
            <p:ph type="ftr" sz="quarter" idx="11"/>
          </p:nvPr>
        </p:nvSpPr>
        <p:spPr/>
        <p:txBody>
          <a:bodyPr/>
          <a:lstStyle/>
          <a:p>
            <a:r>
              <a:rPr lang="en-IN"/>
              <a:t>DEPARTMENT OF COMPUTER SCIENCE &amp; ENGINEERING   / PROJECT TITLE</a:t>
            </a:r>
          </a:p>
        </p:txBody>
      </p:sp>
      <p:sp>
        <p:nvSpPr>
          <p:cNvPr id="12" name="Slide Number Placeholder 11">
            <a:extLst>
              <a:ext uri="{FF2B5EF4-FFF2-40B4-BE49-F238E27FC236}">
                <a16:creationId xmlns:a16="http://schemas.microsoft.com/office/drawing/2014/main" id="{8A0CD58A-C169-060C-DAE9-BEFB15E63BE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467317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E3FEEA-94A0-4780-8034-6B4F50182C72}" type="datetime4">
              <a:rPr lang="en-US" smtClean="0"/>
              <a:pPr/>
              <a:t>May 6, 2026</a:t>
            </a:fld>
            <a:endParaRPr lang="en-US"/>
          </a:p>
        </p:txBody>
      </p:sp>
      <p:sp>
        <p:nvSpPr>
          <p:cNvPr id="4" name="Footer Placeholder 3"/>
          <p:cNvSpPr>
            <a:spLocks noGrp="1"/>
          </p:cNvSpPr>
          <p:nvPr>
            <p:ph type="ftr" sz="quarter" idx="11"/>
          </p:nvPr>
        </p:nvSpPr>
        <p:spPr/>
        <p:txBody>
          <a:bodyPr/>
          <a:lstStyle/>
          <a:p>
            <a:r>
              <a:rPr lang="en-IN"/>
              <a:t>DEPARTMENT OF COMPUTER SCIENCE &amp; ENGINEERING   / PROJECT TITLE</a:t>
            </a: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074179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F6CA7D8D-414D-3E98-2A4E-41E1C7826D6F}"/>
              </a:ext>
            </a:extLst>
          </p:cNvPr>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a:extLst>
              <a:ext uri="{FF2B5EF4-FFF2-40B4-BE49-F238E27FC236}">
                <a16:creationId xmlns:a16="http://schemas.microsoft.com/office/drawing/2014/main" id="{16911686-75FC-885E-9B6C-C71102A6083A}"/>
              </a:ext>
            </a:extLst>
          </p:cNvPr>
          <p:cNvSpPr>
            <a:spLocks noGrp="1"/>
          </p:cNvSpPr>
          <p:nvPr>
            <p:ph type="ftr" sz="quarter" idx="11"/>
          </p:nvPr>
        </p:nvSpPr>
        <p:spPr/>
        <p:txBody>
          <a:bodyPr/>
          <a:lstStyle/>
          <a:p>
            <a:r>
              <a:rPr lang="en-IN"/>
              <a:t>DEPARTMENT OF COMPUTER SCIENCE &amp; ENGINEERING   / PROJECT TITLE</a:t>
            </a:r>
          </a:p>
        </p:txBody>
      </p:sp>
      <p:sp>
        <p:nvSpPr>
          <p:cNvPr id="4" name="Slide Number Placeholder 3">
            <a:extLst>
              <a:ext uri="{FF2B5EF4-FFF2-40B4-BE49-F238E27FC236}">
                <a16:creationId xmlns:a16="http://schemas.microsoft.com/office/drawing/2014/main" id="{602F1127-9E64-DE43-F6A4-F7AD9B59A69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936066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5" y="0"/>
            <a:ext cx="6076187" cy="1028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060107" y="0"/>
            <a:ext cx="96012"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891538"/>
            <a:ext cx="4800600" cy="3429000"/>
          </a:xfrm>
        </p:spPr>
        <p:txBody>
          <a:bodyPr anchor="b">
            <a:normAutofit/>
          </a:bodyPr>
          <a:lstStyle>
            <a:lvl1pPr>
              <a:defRPr sz="5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200900" y="1097280"/>
            <a:ext cx="9738360" cy="7886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4389120"/>
            <a:ext cx="4800600" cy="5068686"/>
          </a:xfrm>
        </p:spPr>
        <p:txBody>
          <a:bodyPr lIns="91440" rIns="91440">
            <a:normAutofit/>
          </a:bodyPr>
          <a:lstStyle>
            <a:lvl1pPr marL="0" indent="0">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a:xfrm>
            <a:off x="698268" y="9689678"/>
            <a:ext cx="3927765" cy="547688"/>
          </a:xfrm>
        </p:spPr>
        <p:txBody>
          <a:bodyPr/>
          <a:lstStyle>
            <a:lvl1pPr algn="l">
              <a:defRPr/>
            </a:lvl1pPr>
          </a:lstStyle>
          <a:p>
            <a:fld id="{5A61ED53-1557-48CE-8123-0F97BD6F5650}" type="datetime4">
              <a:rPr lang="en-US" smtClean="0"/>
              <a:pPr/>
              <a:t>May 6, 2026</a:t>
            </a:fld>
            <a:endParaRPr lang="en-US"/>
          </a:p>
        </p:txBody>
      </p:sp>
      <p:sp>
        <p:nvSpPr>
          <p:cNvPr id="6" name="Footer Placeholder 5"/>
          <p:cNvSpPr>
            <a:spLocks noGrp="1"/>
          </p:cNvSpPr>
          <p:nvPr>
            <p:ph type="ftr" sz="quarter" idx="11"/>
          </p:nvPr>
        </p:nvSpPr>
        <p:spPr>
          <a:xfrm>
            <a:off x="7200900" y="9689678"/>
            <a:ext cx="6972300" cy="547688"/>
          </a:xfrm>
        </p:spPr>
        <p:txBody>
          <a:bodyPr/>
          <a:lstStyle>
            <a:lvl1pPr algn="l">
              <a:defRPr>
                <a:solidFill>
                  <a:schemeClr val="tx2"/>
                </a:solidFill>
              </a:defRPr>
            </a:lvl1p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849128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7429500"/>
            <a:ext cx="18283238" cy="285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3" y="737261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45920" y="7612380"/>
            <a:ext cx="15169896" cy="1234440"/>
          </a:xfrm>
        </p:spPr>
        <p:txBody>
          <a:bodyPr lIns="91440" tIns="0" rIns="91440" bIns="0" anchor="b">
            <a:noAutofit/>
          </a:bodyPr>
          <a:lstStyle>
            <a:lvl1pPr>
              <a:defRPr sz="54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3" y="0"/>
            <a:ext cx="18287978" cy="7372614"/>
          </a:xfrm>
          <a:blipFill>
            <a:blip r:embed="rId2"/>
            <a:stretch>
              <a:fillRect/>
            </a:stretch>
          </a:blipFill>
        </p:spPr>
        <p:txBody>
          <a:bodyPr lIns="457200" tIns="457200" anchor="t"/>
          <a:lstStyle>
            <a:lvl1pPr marL="0" indent="0">
              <a:buNone/>
              <a:defRPr sz="4800">
                <a:solidFill>
                  <a:schemeClr val="bg1"/>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645920" y="8860535"/>
            <a:ext cx="15169896" cy="891540"/>
          </a:xfrm>
        </p:spPr>
        <p:txBody>
          <a:bodyPr lIns="91440" tIns="0" rIns="91440" bIns="0">
            <a:normAutofit/>
          </a:bodyPr>
          <a:lstStyle>
            <a:lvl1pPr marL="0" indent="0">
              <a:spcBef>
                <a:spcPts val="0"/>
              </a:spcBef>
              <a:spcAft>
                <a:spcPts val="900"/>
              </a:spcAft>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66FC48DB-39AD-497D-8330-7463C2179DE1}" type="datetime4">
              <a:rPr lang="en-US" smtClean="0"/>
              <a:pPr/>
              <a:t>May 6, 2026</a:t>
            </a:fld>
            <a:endParaRPr lang="en-US"/>
          </a:p>
        </p:txBody>
      </p:sp>
      <p:sp>
        <p:nvSpPr>
          <p:cNvPr id="6" name="Footer Placeholder 5"/>
          <p:cNvSpPr>
            <a:spLocks noGrp="1"/>
          </p:cNvSpPr>
          <p:nvPr>
            <p:ph type="ftr" sz="quarter" idx="11"/>
          </p:nvPr>
        </p:nvSpPr>
        <p:spPr/>
        <p:txBody>
          <a:body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2435646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13E0C0-228A-4082-81D2-A22D1B3A4D51}" type="datetime4">
              <a:rPr lang="en-US" smtClean="0"/>
              <a:pPr/>
              <a:t>May 6,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2934050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3087350" y="622168"/>
            <a:ext cx="3943350" cy="86361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622167"/>
            <a:ext cx="11601450" cy="8636133"/>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138729-B38B-4E7B-A4F9-C7D61D129B30}" type="datetime4">
              <a:rPr lang="en-US" smtClean="0"/>
              <a:pPr/>
              <a:t>May 6,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794050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9601200"/>
            <a:ext cx="18288000"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9501474"/>
            <a:ext cx="18288002" cy="98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645920" y="429905"/>
            <a:ext cx="15087600" cy="217613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645920" y="2768601"/>
            <a:ext cx="15087600" cy="603504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45921" y="9689678"/>
            <a:ext cx="3708407" cy="547688"/>
          </a:xfrm>
          <a:prstGeom prst="rect">
            <a:avLst/>
          </a:prstGeom>
        </p:spPr>
        <p:txBody>
          <a:bodyPr vert="horz" lIns="91440" tIns="45720" rIns="91440" bIns="45720" rtlCol="0" anchor="ctr"/>
          <a:lstStyle>
            <a:lvl1pPr algn="l">
              <a:defRPr sz="1350">
                <a:solidFill>
                  <a:srgbClr val="FFFFFF"/>
                </a:solidFill>
              </a:defRPr>
            </a:lvl1pPr>
          </a:lstStyle>
          <a:p>
            <a:fld id="{04A8CDA6-3F51-4CAD-8EC3-2E80C1A81474}" type="datetime4">
              <a:rPr lang="en-US" smtClean="0"/>
              <a:pPr/>
              <a:t>May 6, 2026</a:t>
            </a:fld>
            <a:endParaRPr lang="en-US"/>
          </a:p>
        </p:txBody>
      </p:sp>
      <p:sp>
        <p:nvSpPr>
          <p:cNvPr id="5" name="Footer Placeholder 4"/>
          <p:cNvSpPr>
            <a:spLocks noGrp="1"/>
          </p:cNvSpPr>
          <p:nvPr>
            <p:ph type="ftr" sz="quarter" idx="3"/>
          </p:nvPr>
        </p:nvSpPr>
        <p:spPr>
          <a:xfrm>
            <a:off x="5529278" y="9689678"/>
            <a:ext cx="7234206" cy="547688"/>
          </a:xfrm>
          <a:prstGeom prst="rect">
            <a:avLst/>
          </a:prstGeom>
        </p:spPr>
        <p:txBody>
          <a:bodyPr vert="horz" lIns="91440" tIns="45720" rIns="91440" bIns="45720" rtlCol="0" anchor="ctr"/>
          <a:lstStyle>
            <a:lvl1pPr algn="ctr">
              <a:defRPr sz="1350" cap="all" baseline="0">
                <a:solidFill>
                  <a:srgbClr val="FFFFFF"/>
                </a:solidFill>
              </a:defRPr>
            </a:lvl1pPr>
          </a:lstStyle>
          <a:p>
            <a:r>
              <a:rPr lang="en-IN"/>
              <a:t>DEPARTMENT OF COMPUTER SCIENCE &amp; ENGINEERING   / PROJECT TITLE</a:t>
            </a:r>
          </a:p>
        </p:txBody>
      </p:sp>
      <p:sp>
        <p:nvSpPr>
          <p:cNvPr id="6" name="Slide Number Placeholder 5"/>
          <p:cNvSpPr>
            <a:spLocks noGrp="1"/>
          </p:cNvSpPr>
          <p:nvPr>
            <p:ph type="sldNum" sz="quarter" idx="4"/>
          </p:nvPr>
        </p:nvSpPr>
        <p:spPr>
          <a:xfrm>
            <a:off x="14850688" y="9689678"/>
            <a:ext cx="1968038" cy="547688"/>
          </a:xfrm>
          <a:prstGeom prst="rect">
            <a:avLst/>
          </a:prstGeom>
        </p:spPr>
        <p:txBody>
          <a:bodyPr vert="horz" lIns="91440" tIns="45720" rIns="91440" bIns="45720" rtlCol="0" anchor="ctr"/>
          <a:lstStyle>
            <a:lvl1pPr algn="r">
              <a:defRPr sz="1575">
                <a:solidFill>
                  <a:srgbClr val="FFFFFF"/>
                </a:solidFill>
              </a:defRPr>
            </a:lvl1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cxnSp>
        <p:nvCxnSpPr>
          <p:cNvPr id="10" name="Straight Connector 9"/>
          <p:cNvCxnSpPr/>
          <p:nvPr/>
        </p:nvCxnSpPr>
        <p:spPr>
          <a:xfrm>
            <a:off x="1790298" y="2606768"/>
            <a:ext cx="149504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125671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l" defTabSz="1371600" rtl="0" eaLnBrk="1" latinLnBrk="0" hangingPunct="1">
        <a:lnSpc>
          <a:spcPct val="85000"/>
        </a:lnSpc>
        <a:spcBef>
          <a:spcPct val="0"/>
        </a:spcBef>
        <a:buNone/>
        <a:defRPr sz="7200" kern="1200" spc="-75" baseline="0">
          <a:solidFill>
            <a:schemeClr val="tx1">
              <a:lumMod val="75000"/>
              <a:lumOff val="25000"/>
            </a:schemeClr>
          </a:solidFill>
          <a:latin typeface="+mj-lt"/>
          <a:ea typeface="+mj-ea"/>
          <a:cs typeface="+mj-cs"/>
        </a:defRPr>
      </a:lvl1pPr>
    </p:titleStyle>
    <p:bodyStyle>
      <a:lvl1pPr marL="137160" indent="-137160" algn="l" defTabSz="1371600" rtl="0" eaLnBrk="1" latinLnBrk="0" hangingPunct="1">
        <a:lnSpc>
          <a:spcPct val="90000"/>
        </a:lnSpc>
        <a:spcBef>
          <a:spcPts val="1800"/>
        </a:spcBef>
        <a:spcAft>
          <a:spcPts val="300"/>
        </a:spcAft>
        <a:buClr>
          <a:schemeClr val="accent1"/>
        </a:buClr>
        <a:buSzPct val="100000"/>
        <a:buFont typeface="Calibri" panose="020F0502020204030204" pitchFamily="34" charset="0"/>
        <a:buChar char=" "/>
        <a:defRPr sz="3000" kern="1200">
          <a:solidFill>
            <a:schemeClr val="tx1">
              <a:lumMod val="75000"/>
              <a:lumOff val="25000"/>
            </a:schemeClr>
          </a:solidFill>
          <a:latin typeface="+mn-lt"/>
          <a:ea typeface="+mn-ea"/>
          <a:cs typeface="+mn-cs"/>
        </a:defRPr>
      </a:lvl1pPr>
      <a:lvl2pPr marL="576072" indent="-274320" algn="l" defTabSz="1371600" rtl="0" eaLnBrk="1" latinLnBrk="0" hangingPunct="1">
        <a:lnSpc>
          <a:spcPct val="90000"/>
        </a:lnSpc>
        <a:spcBef>
          <a:spcPts val="300"/>
        </a:spcBef>
        <a:spcAft>
          <a:spcPts val="600"/>
        </a:spcAft>
        <a:buClr>
          <a:schemeClr val="accent1"/>
        </a:buClr>
        <a:buFont typeface="Calibri" pitchFamily="34" charset="0"/>
        <a:buChar char="◦"/>
        <a:defRPr sz="2700" kern="1200">
          <a:solidFill>
            <a:schemeClr val="tx1">
              <a:lumMod val="75000"/>
              <a:lumOff val="25000"/>
            </a:schemeClr>
          </a:solidFill>
          <a:latin typeface="+mn-lt"/>
          <a:ea typeface="+mn-ea"/>
          <a:cs typeface="+mn-cs"/>
        </a:defRPr>
      </a:lvl2pPr>
      <a:lvl3pPr marL="85039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3pPr>
      <a:lvl4pPr marL="112471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4pPr>
      <a:lvl5pPr marL="139903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5pPr>
      <a:lvl6pPr marL="16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6pPr>
      <a:lvl7pPr marL="19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7pPr>
      <a:lvl8pPr marL="22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8pPr>
      <a:lvl9pPr marL="25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1.xml"/><Relationship Id="rId1" Type="http://schemas.openxmlformats.org/officeDocument/2006/relationships/slideLayout" Target="../slideLayouts/slideLayout7.xml"/><Relationship Id="rId5" Type="http://schemas.openxmlformats.org/officeDocument/2006/relationships/image" Target="../media/image5.jpg"/><Relationship Id="rId4" Type="http://schemas.openxmlformats.org/officeDocument/2006/relationships/customXml" Target="../ink/ink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8.jpg"/><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0.jpg"/><Relationship Id="rId1" Type="http://schemas.openxmlformats.org/officeDocument/2006/relationships/slideLayout" Target="../slideLayouts/slideLayout7.xml"/><Relationship Id="rId5" Type="http://schemas.openxmlformats.org/officeDocument/2006/relationships/image" Target="../media/image11.jpg"/><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13.jpg"/></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6.jpg"/><Relationship Id="rId1" Type="http://schemas.openxmlformats.org/officeDocument/2006/relationships/slideLayout" Target="../slideLayouts/slideLayout7.xml"/><Relationship Id="rId4" Type="http://schemas.openxmlformats.org/officeDocument/2006/relationships/image" Target="../media/image17.jpg"/></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image" Target="../media/image20.jpg"/><Relationship Id="rId4" Type="http://schemas.openxmlformats.org/officeDocument/2006/relationships/image" Target="../media/image19.jpg"/></Relationships>
</file>

<file path=ppt/slides/_rels/slide1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3" descr="C:\Users\Sharad\Desktop\download veltech.png"/>
          <p:cNvPicPr>
            <a:picLocks noChangeAspect="1" noChangeArrowheads="1"/>
          </p:cNvPicPr>
          <p:nvPr/>
        </p:nvPicPr>
        <p:blipFill>
          <a:blip r:embed="rId3"/>
          <a:srcRect/>
          <a:stretch>
            <a:fillRect/>
          </a:stretch>
        </p:blipFill>
        <p:spPr bwMode="auto">
          <a:xfrm>
            <a:off x="6826102" y="0"/>
            <a:ext cx="4295554" cy="1438275"/>
          </a:xfrm>
          <a:prstGeom prst="rect">
            <a:avLst/>
          </a:prstGeom>
          <a:noFill/>
        </p:spPr>
      </p:pic>
      <p:sp>
        <p:nvSpPr>
          <p:cNvPr id="22" name="Rectangle 21"/>
          <p:cNvSpPr/>
          <p:nvPr/>
        </p:nvSpPr>
        <p:spPr>
          <a:xfrm>
            <a:off x="459134" y="1693768"/>
            <a:ext cx="17415164" cy="3962623"/>
          </a:xfrm>
          <a:prstGeom prst="rect">
            <a:avLst/>
          </a:prstGeom>
        </p:spPr>
        <p:txBody>
          <a:bodyPr wrap="square">
            <a:spAutoFit/>
          </a:bodyPr>
          <a:lstStyle/>
          <a:p>
            <a:pPr marL="12065" marR="5080" algn="ctr">
              <a:lnSpc>
                <a:spcPct val="150000"/>
              </a:lnSpc>
              <a:spcBef>
                <a:spcPts val="70"/>
              </a:spcBef>
            </a:pPr>
            <a:r>
              <a:rPr lang="en-IN" sz="2000" b="1" dirty="0">
                <a:latin typeface="Verdana" panose="020B0604030504040204" pitchFamily="34" charset="0"/>
                <a:ea typeface="Calibri" panose="020F0502020204030204" pitchFamily="34" charset="0"/>
                <a:cs typeface="Mangal" panose="02040503050203030202" pitchFamily="18" charset="0"/>
              </a:rPr>
              <a:t>DEPRTAMENT OF COMPUTER OF SCIENCE &amp; ENGINEERING</a:t>
            </a:r>
          </a:p>
          <a:p>
            <a:pPr marL="12065" marR="5080" algn="ctr">
              <a:lnSpc>
                <a:spcPct val="150000"/>
              </a:lnSpc>
              <a:spcBef>
                <a:spcPts val="70"/>
              </a:spcBef>
            </a:pPr>
            <a:r>
              <a:rPr lang="en-IN" sz="2000" b="1" dirty="0">
                <a:latin typeface="Verdana" panose="020B0604030504040204" pitchFamily="34" charset="0"/>
                <a:ea typeface="Calibri" panose="020F0502020204030204" pitchFamily="34" charset="0"/>
                <a:cs typeface="Mangal" panose="02040503050203030202" pitchFamily="18" charset="0"/>
              </a:rPr>
              <a:t> SCHOOL OF COMPUTING  </a:t>
            </a:r>
          </a:p>
          <a:p>
            <a:pPr indent="457200" algn="ctr">
              <a:lnSpc>
                <a:spcPct val="150000"/>
              </a:lnSpc>
              <a:spcAft>
                <a:spcPts val="600"/>
              </a:spcAft>
            </a:pPr>
            <a:r>
              <a:rPr lang="en-IN" sz="2000" b="1" dirty="0">
                <a:latin typeface="Verdana" panose="020B0604030504040204" pitchFamily="34" charset="0"/>
                <a:ea typeface="Calibri" panose="020F0502020204030204" pitchFamily="34" charset="0"/>
                <a:cs typeface="Mangal" panose="02040503050203030202" pitchFamily="18" charset="0"/>
              </a:rPr>
              <a:t>10214CS501 / COMMUNITY SERVICE PROJECT</a:t>
            </a:r>
          </a:p>
          <a:p>
            <a:pPr marL="12065" marR="5080" algn="ctr">
              <a:lnSpc>
                <a:spcPct val="150000"/>
              </a:lnSpc>
              <a:spcBef>
                <a:spcPts val="70"/>
              </a:spcBef>
            </a:pPr>
            <a:r>
              <a:rPr lang="en-IN" sz="2000" b="1" dirty="0">
                <a:latin typeface="Verdana" panose="020B0604030504040204" pitchFamily="34" charset="0"/>
                <a:ea typeface="Calibri" panose="020F0502020204030204" pitchFamily="34" charset="0"/>
                <a:cs typeface="Mangal" panose="02040503050203030202" pitchFamily="18" charset="0"/>
              </a:rPr>
              <a:t>WINTER SEMESTER(2024-2025)  </a:t>
            </a:r>
          </a:p>
          <a:p>
            <a:pPr marL="12065" marR="5080" algn="ctr">
              <a:lnSpc>
                <a:spcPct val="150000"/>
              </a:lnSpc>
              <a:spcBef>
                <a:spcPts val="70"/>
              </a:spcBef>
            </a:pPr>
            <a:r>
              <a:rPr lang="en-IN" sz="2400" b="1" spc="-5" dirty="0">
                <a:latin typeface="Times New Roman" pitchFamily="18" charset="0"/>
                <a:cs typeface="Times New Roman" pitchFamily="18" charset="0"/>
              </a:rPr>
              <a:t>INITIAL REVIEW</a:t>
            </a:r>
            <a:endParaRPr lang="en-IN" sz="2400" b="1" dirty="0">
              <a:latin typeface="Times New Roman" pitchFamily="18" charset="0"/>
              <a:cs typeface="Times New Roman" pitchFamily="18" charset="0"/>
            </a:endParaRPr>
          </a:p>
          <a:p>
            <a:pPr marL="758190"/>
            <a:r>
              <a:rPr lang="en-IN" sz="2000" b="1" dirty="0">
                <a:latin typeface="Times New Roman" pitchFamily="18" charset="0"/>
                <a:cs typeface="Times New Roman" pitchFamily="18" charset="0"/>
              </a:rPr>
              <a:t>                                                                                                                                      </a:t>
            </a:r>
          </a:p>
          <a:p>
            <a:pPr marL="758190"/>
            <a:endParaRPr lang="en-IN" sz="2000" b="1" dirty="0">
              <a:latin typeface="Times New Roman" pitchFamily="18" charset="0"/>
              <a:cs typeface="Times New Roman" pitchFamily="18" charset="0"/>
            </a:endParaRPr>
          </a:p>
          <a:p>
            <a:pPr marL="758190"/>
            <a:r>
              <a:rPr lang="en-IN" sz="2000" b="1" dirty="0">
                <a:latin typeface="Times New Roman" pitchFamily="18" charset="0"/>
                <a:cs typeface="Times New Roman" pitchFamily="18" charset="0"/>
              </a:rPr>
              <a:t>                                                                                                                                                         </a:t>
            </a:r>
          </a:p>
          <a:p>
            <a:pPr marL="758190"/>
            <a:r>
              <a:rPr lang="en-IN" sz="2000" b="1" dirty="0">
                <a:latin typeface="Times New Roman" pitchFamily="18" charset="0"/>
                <a:cs typeface="Times New Roman" pitchFamily="18" charset="0"/>
              </a:rPr>
              <a:t>                                                      </a:t>
            </a:r>
            <a:r>
              <a:rPr lang="en-IN" sz="2800" b="1" dirty="0">
                <a:latin typeface="Times New Roman" pitchFamily="18" charset="0"/>
                <a:cs typeface="Times New Roman" pitchFamily="18" charset="0"/>
              </a:rPr>
              <a:t>“DEPLOYMENT OF MEDIBOT IN HEALTHCARE”</a:t>
            </a:r>
            <a:endParaRPr lang="en-IN" sz="2000" dirty="0">
              <a:latin typeface="Times New Roman" pitchFamily="18" charset="0"/>
              <a:cs typeface="Times New Roman" pitchFamily="18" charset="0"/>
            </a:endParaRPr>
          </a:p>
        </p:txBody>
      </p:sp>
      <p:sp>
        <p:nvSpPr>
          <p:cNvPr id="29" name="Slide Number Placeholder 3"/>
          <p:cNvSpPr txBox="1">
            <a:spLocks/>
          </p:cNvSpPr>
          <p:nvPr/>
        </p:nvSpPr>
        <p:spPr>
          <a:xfrm>
            <a:off x="15740698" y="275977"/>
            <a:ext cx="21336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0" b="0" i="0" u="none" strike="noStrike" kern="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p:txBody>
      </p:sp>
      <p:sp>
        <p:nvSpPr>
          <p:cNvPr id="31" name="Rectangle 30"/>
          <p:cNvSpPr/>
          <p:nvPr/>
        </p:nvSpPr>
        <p:spPr>
          <a:xfrm>
            <a:off x="351841" y="7577569"/>
            <a:ext cx="9144000" cy="1015663"/>
          </a:xfrm>
          <a:prstGeom prst="rect">
            <a:avLst/>
          </a:prstGeom>
        </p:spPr>
        <p:txBody>
          <a:bodyPr>
            <a:spAutoFit/>
          </a:bodyPr>
          <a:lstStyle/>
          <a:p>
            <a:pPr marL="457200" indent="-457200">
              <a:buFont typeface="+mj-lt"/>
              <a:buAutoNum type="arabicPeriod"/>
            </a:pPr>
            <a:r>
              <a:rPr lang="en-IN" sz="2000" dirty="0">
                <a:latin typeface="Times New Roman" pitchFamily="18" charset="0"/>
                <a:cs typeface="Times New Roman" pitchFamily="18" charset="0"/>
              </a:rPr>
              <a:t>1. S.NAVEEN                             (VTU 26282)     (23UECS0994)</a:t>
            </a:r>
          </a:p>
          <a:p>
            <a:pPr marL="457200" indent="-457200">
              <a:buFont typeface="+mj-lt"/>
              <a:buAutoNum type="arabicPeriod"/>
            </a:pPr>
            <a:r>
              <a:rPr lang="en-IN" sz="2000" dirty="0">
                <a:latin typeface="Times New Roman" pitchFamily="18" charset="0"/>
                <a:cs typeface="Times New Roman" pitchFamily="18" charset="0"/>
              </a:rPr>
              <a:t>2.P.PAVAN KUMAR                   (VTU26778)     (23UECS0435)</a:t>
            </a:r>
          </a:p>
          <a:p>
            <a:pPr marL="457200" indent="-457200">
              <a:buFont typeface="+mj-lt"/>
              <a:buAutoNum type="arabicPeriod"/>
            </a:pPr>
            <a:r>
              <a:rPr lang="en-IN" sz="2000" dirty="0">
                <a:latin typeface="Times New Roman" pitchFamily="18" charset="0"/>
                <a:cs typeface="Times New Roman" pitchFamily="18" charset="0"/>
              </a:rPr>
              <a:t>3.Y.VENU MADHAV REDDY   (VTU26287)      (23UECS0996)</a:t>
            </a:r>
            <a:endParaRPr lang="en-IN" sz="2000" dirty="0"/>
          </a:p>
        </p:txBody>
      </p:sp>
      <p:sp>
        <p:nvSpPr>
          <p:cNvPr id="32" name="TextBox 31"/>
          <p:cNvSpPr txBox="1"/>
          <p:nvPr/>
        </p:nvSpPr>
        <p:spPr>
          <a:xfrm>
            <a:off x="351841" y="7003473"/>
            <a:ext cx="4344850" cy="400110"/>
          </a:xfrm>
          <a:prstGeom prst="rect">
            <a:avLst/>
          </a:prstGeom>
          <a:noFill/>
        </p:spPr>
        <p:txBody>
          <a:bodyPr wrap="square" rtlCol="0">
            <a:spAutoFit/>
          </a:bodyPr>
          <a:lstStyle/>
          <a:p>
            <a:r>
              <a:rPr lang="en-IN" sz="2000" b="1" dirty="0">
                <a:latin typeface="Times New Roman" pitchFamily="18" charset="0"/>
                <a:cs typeface="Times New Roman" pitchFamily="18" charset="0"/>
              </a:rPr>
              <a:t>PRESENTED BY</a:t>
            </a:r>
          </a:p>
        </p:txBody>
      </p:sp>
      <p:sp>
        <p:nvSpPr>
          <p:cNvPr id="33" name="TextBox 32"/>
          <p:cNvSpPr txBox="1"/>
          <p:nvPr/>
        </p:nvSpPr>
        <p:spPr>
          <a:xfrm>
            <a:off x="12031474" y="7403583"/>
            <a:ext cx="4344851" cy="1015663"/>
          </a:xfrm>
          <a:prstGeom prst="rect">
            <a:avLst/>
          </a:prstGeom>
          <a:noFill/>
        </p:spPr>
        <p:txBody>
          <a:bodyPr wrap="square" rtlCol="0">
            <a:spAutoFit/>
          </a:bodyPr>
          <a:lstStyle/>
          <a:p>
            <a:r>
              <a:rPr lang="en-IN" sz="2000" b="1" dirty="0">
                <a:latin typeface="Times New Roman" pitchFamily="18" charset="0"/>
                <a:cs typeface="Times New Roman" pitchFamily="18" charset="0"/>
              </a:rPr>
              <a:t>PROJECT SUPERVISOR</a:t>
            </a:r>
          </a:p>
          <a:p>
            <a:endParaRPr lang="en-IN" sz="2000" b="1" dirty="0">
              <a:latin typeface="Times New Roman" pitchFamily="18" charset="0"/>
              <a:cs typeface="Times New Roman" pitchFamily="18" charset="0"/>
            </a:endParaRPr>
          </a:p>
          <a:p>
            <a:r>
              <a:rPr lang="en-IN" sz="2000" b="1" dirty="0">
                <a:latin typeface="Times New Roman" pitchFamily="18" charset="0"/>
                <a:cs typeface="Times New Roman" pitchFamily="18" charset="0"/>
              </a:rPr>
              <a:t>DR.P.RAJESH</a:t>
            </a:r>
          </a:p>
        </p:txBody>
      </p:sp>
      <p:sp>
        <p:nvSpPr>
          <p:cNvPr id="3" name="Slide Number Placeholder 2">
            <a:extLst>
              <a:ext uri="{FF2B5EF4-FFF2-40B4-BE49-F238E27FC236}">
                <a16:creationId xmlns:a16="http://schemas.microsoft.com/office/drawing/2014/main" id="{3A074ED6-CF7A-5721-E8DB-79CE15E7201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a:t>
            </a:fld>
            <a:endParaRPr lang="en-US"/>
          </a:p>
        </p:txBody>
      </p:sp>
      <p:sp>
        <p:nvSpPr>
          <p:cNvPr id="4" name="Footer Placeholder 3">
            <a:extLst>
              <a:ext uri="{FF2B5EF4-FFF2-40B4-BE49-F238E27FC236}">
                <a16:creationId xmlns:a16="http://schemas.microsoft.com/office/drawing/2014/main" id="{A914398D-2412-FDBC-ACEE-C574CFD444F7}"/>
              </a:ext>
            </a:extLst>
          </p:cNvPr>
          <p:cNvSpPr>
            <a:spLocks noGrp="1"/>
          </p:cNvSpPr>
          <p:nvPr>
            <p:ph type="ftr" sz="quarter" idx="11"/>
          </p:nvPr>
        </p:nvSpPr>
        <p:spPr>
          <a:xfrm>
            <a:off x="4188037" y="9084926"/>
            <a:ext cx="9571683" cy="1901440"/>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DEPARTMENT OF</a:t>
            </a:r>
            <a:r>
              <a:rPr lang="en-IN" sz="1400" b="1" dirty="0">
                <a:latin typeface="Calibri" panose="020F0502020204030204" pitchFamily="34" charset="0"/>
                <a:ea typeface="Calibri" panose="020F0502020204030204" pitchFamily="34" charset="0"/>
                <a:cs typeface="Calibri" panose="020F0502020204030204" pitchFamily="34" charset="0"/>
              </a:rPr>
              <a:t> COMPUTER OF SCIENCE &amp; ENGINEERING</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a:t>/ deployment of </a:t>
            </a:r>
            <a:r>
              <a:rPr lang="en-IN" dirty="0" err="1"/>
              <a:t>medibot</a:t>
            </a:r>
            <a:r>
              <a:rPr lang="en-IN" dirty="0"/>
              <a:t> in healthcare</a:t>
            </a:r>
          </a:p>
        </p:txBody>
      </p:sp>
      <p:sp>
        <p:nvSpPr>
          <p:cNvPr id="5" name="Date Placeholder 4">
            <a:extLst>
              <a:ext uri="{FF2B5EF4-FFF2-40B4-BE49-F238E27FC236}">
                <a16:creationId xmlns:a16="http://schemas.microsoft.com/office/drawing/2014/main" id="{0E3CE0F6-58C9-CD16-1564-53FAD958EF9E}"/>
              </a:ext>
            </a:extLst>
          </p:cNvPr>
          <p:cNvSpPr>
            <a:spLocks noGrp="1"/>
          </p:cNvSpPr>
          <p:nvPr>
            <p:ph type="dt" sz="half" idx="10"/>
          </p:nvPr>
        </p:nvSpPr>
        <p:spPr>
          <a:xfrm>
            <a:off x="1645922" y="9689678"/>
            <a:ext cx="3319618" cy="547688"/>
          </a:xfrm>
        </p:spPr>
        <p:txBody>
          <a:bodyPr/>
          <a:lstStyle/>
          <a:p>
            <a:fld id="{E4D1627A-24AB-481F-9D74-76C2593C9111}" type="datetime4">
              <a:rPr lang="en-US" smtClean="0"/>
              <a:pPr/>
              <a:t>May 6, 2026</a:t>
            </a:fld>
            <a:endParaRPr lang="en-US" dirty="0"/>
          </a:p>
        </p:txBody>
      </p:sp>
      <p:pic>
        <p:nvPicPr>
          <p:cNvPr id="13" name="Picture 2" descr="C:\Users\Sharad\Desktop\Logo-Final-A veltech.png">
            <a:extLst>
              <a:ext uri="{FF2B5EF4-FFF2-40B4-BE49-F238E27FC236}">
                <a16:creationId xmlns:a16="http://schemas.microsoft.com/office/drawing/2014/main" id="{02DAE25E-C86A-BBED-9DA8-E19B5DADF85E}"/>
              </a:ext>
            </a:extLst>
          </p:cNvPr>
          <p:cNvPicPr>
            <a:picLocks noChangeAspect="1" noChangeArrowheads="1"/>
          </p:cNvPicPr>
          <p:nvPr/>
        </p:nvPicPr>
        <p:blipFill>
          <a:blip r:embed="rId4"/>
          <a:srcRect/>
          <a:stretch>
            <a:fillRect/>
          </a:stretch>
        </p:blipFill>
        <p:spPr bwMode="auto">
          <a:xfrm>
            <a:off x="15121296" y="502999"/>
            <a:ext cx="1238803" cy="932946"/>
          </a:xfrm>
          <a:prstGeom prst="rect">
            <a:avLst/>
          </a:prstGeom>
          <a:noFill/>
        </p:spPr>
      </p:pic>
      <p:pic>
        <p:nvPicPr>
          <p:cNvPr id="6" name="Picture 5">
            <a:extLst>
              <a:ext uri="{FF2B5EF4-FFF2-40B4-BE49-F238E27FC236}">
                <a16:creationId xmlns:a16="http://schemas.microsoft.com/office/drawing/2014/main" id="{F2D79E25-395C-9E78-BF50-E9842469DE33}"/>
              </a:ext>
            </a:extLst>
          </p:cNvPr>
          <p:cNvPicPr>
            <a:picLocks noChangeAspect="1"/>
          </p:cNvPicPr>
          <p:nvPr/>
        </p:nvPicPr>
        <p:blipFill>
          <a:blip r:embed="rId5"/>
          <a:stretch>
            <a:fillRect/>
          </a:stretch>
        </p:blipFill>
        <p:spPr>
          <a:xfrm>
            <a:off x="16376326" y="313184"/>
            <a:ext cx="1632118" cy="11250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A0A186-EB1D-4F51-9D64-F1D006E779B2}"/>
              </a:ext>
            </a:extLst>
          </p:cNvPr>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a:extLst>
              <a:ext uri="{FF2B5EF4-FFF2-40B4-BE49-F238E27FC236}">
                <a16:creationId xmlns:a16="http://schemas.microsoft.com/office/drawing/2014/main" id="{3381DFE1-AF0F-6AC0-B6D3-5EAD1213166B}"/>
              </a:ext>
            </a:extLst>
          </p:cNvPr>
          <p:cNvSpPr>
            <a:spLocks noGrp="1"/>
          </p:cNvSpPr>
          <p:nvPr>
            <p:ph type="ftr" sz="quarter" idx="11"/>
          </p:nvPr>
        </p:nvSpPr>
        <p:spPr>
          <a:xfrm>
            <a:off x="5029200" y="9689678"/>
            <a:ext cx="7904474" cy="547688"/>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DEPARTMENT OF</a:t>
            </a:r>
            <a:r>
              <a:rPr lang="en-IN" sz="1400" b="1" dirty="0">
                <a:latin typeface="Calibri" panose="020F0502020204030204" pitchFamily="34" charset="0"/>
                <a:ea typeface="Calibri" panose="020F0502020204030204" pitchFamily="34" charset="0"/>
                <a:cs typeface="Calibri" panose="020F0502020204030204" pitchFamily="34" charset="0"/>
              </a:rPr>
              <a:t> COMPUTER OF SCIENCE &amp; ENGINEERING</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a:t>/ deployment of </a:t>
            </a:r>
            <a:r>
              <a:rPr lang="en-IN" dirty="0" err="1"/>
              <a:t>medibot</a:t>
            </a:r>
            <a:r>
              <a:rPr lang="en-IN" dirty="0"/>
              <a:t> in healthcare</a:t>
            </a:r>
          </a:p>
          <a:p>
            <a:endParaRPr lang="en-IN" dirty="0"/>
          </a:p>
        </p:txBody>
      </p:sp>
      <p:sp>
        <p:nvSpPr>
          <p:cNvPr id="4" name="Slide Number Placeholder 3">
            <a:extLst>
              <a:ext uri="{FF2B5EF4-FFF2-40B4-BE49-F238E27FC236}">
                <a16:creationId xmlns:a16="http://schemas.microsoft.com/office/drawing/2014/main" id="{781781C1-E316-D856-5AE0-127405B9297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a:p>
        </p:txBody>
      </p:sp>
      <p:sp>
        <p:nvSpPr>
          <p:cNvPr id="5" name="TextBox 4">
            <a:extLst>
              <a:ext uri="{FF2B5EF4-FFF2-40B4-BE49-F238E27FC236}">
                <a16:creationId xmlns:a16="http://schemas.microsoft.com/office/drawing/2014/main" id="{CD6E3286-2DDB-1618-1E66-D3E13B9E1166}"/>
              </a:ext>
            </a:extLst>
          </p:cNvPr>
          <p:cNvSpPr txBox="1"/>
          <p:nvPr/>
        </p:nvSpPr>
        <p:spPr>
          <a:xfrm>
            <a:off x="1140962" y="0"/>
            <a:ext cx="15959641" cy="9759082"/>
          </a:xfrm>
          <a:prstGeom prst="rect">
            <a:avLst/>
          </a:prstGeom>
          <a:noFill/>
        </p:spPr>
        <p:txBody>
          <a:bodyPr wrap="square"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TITLE JUSTIFICATION</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1440" marR="77470" algn="just">
              <a:lnSpc>
                <a:spcPct val="102000"/>
              </a:lnSpc>
              <a:spcAft>
                <a:spcPts val="0"/>
              </a:spcAft>
            </a:pPr>
            <a:r>
              <a:rPr lang="en-US" sz="2400" b="1" dirty="0">
                <a:solidFill>
                  <a:srgbClr val="111111"/>
                </a:solidFill>
                <a:effectLst/>
                <a:latin typeface="Calibri" panose="020F0502020204030204" pitchFamily="34" charset="0"/>
                <a:ea typeface="Calibri" panose="020F0502020204030204" pitchFamily="34" charset="0"/>
              </a:rPr>
              <a:t>.</a:t>
            </a:r>
            <a:r>
              <a:rPr lang="en-US" sz="2400" b="1" spc="200"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Medi</a:t>
            </a:r>
            <a:r>
              <a:rPr lang="en-US" sz="2400" b="1" spc="200"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bot</a:t>
            </a:r>
            <a:r>
              <a:rPr lang="en-US" sz="2400" b="1" spc="15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is</a:t>
            </a:r>
            <a:r>
              <a:rPr lang="en-US" sz="2400" spc="15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chatbot</a:t>
            </a:r>
            <a:r>
              <a:rPr lang="en-US" sz="2400" spc="18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that</a:t>
            </a:r>
            <a:r>
              <a:rPr lang="en-US" sz="2400" spc="18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uses</a:t>
            </a:r>
            <a:r>
              <a:rPr lang="en-US" sz="2400" spc="17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Natural</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Language</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Processing</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(NLP)</a:t>
            </a:r>
            <a:r>
              <a:rPr lang="en-US" sz="2400" spc="15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by</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text</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format</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and</a:t>
            </a:r>
            <a:r>
              <a:rPr lang="en-US" sz="2400" spc="17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is</a:t>
            </a:r>
            <a:r>
              <a:rPr lang="en-US" sz="2400" spc="15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supported</a:t>
            </a:r>
            <a:r>
              <a:rPr lang="en-US" sz="2400" spc="18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by</a:t>
            </a:r>
            <a:r>
              <a:rPr lang="en-US" sz="2400" spc="200" dirty="0">
                <a:solidFill>
                  <a:srgbClr val="111111"/>
                </a:solidFill>
                <a:effectLst/>
                <a:latin typeface="Calibri" panose="020F0502020204030204" pitchFamily="34" charset="0"/>
                <a:ea typeface="Calibri" panose="020F0502020204030204" pitchFamily="34" charset="0"/>
              </a:rPr>
              <a:t> </a:t>
            </a:r>
            <a:r>
              <a:rPr lang="en-US" sz="2400" spc="60" dirty="0">
                <a:solidFill>
                  <a:srgbClr val="111111"/>
                </a:solidFill>
                <a:effectLst/>
                <a:latin typeface="Calibri" panose="020F0502020204030204" pitchFamily="34" charset="0"/>
                <a:ea typeface="Calibri" panose="020F0502020204030204" pitchFamily="34" charset="0"/>
              </a:rPr>
              <a:t>AI </a:t>
            </a:r>
            <a:r>
              <a:rPr lang="en-US" sz="2400" dirty="0">
                <a:solidFill>
                  <a:srgbClr val="111111"/>
                </a:solidFill>
                <a:effectLst/>
                <a:latin typeface="Calibri" panose="020F0502020204030204" pitchFamily="34" charset="0"/>
                <a:ea typeface="Calibri" panose="020F0502020204030204" pitchFamily="34" charset="0"/>
              </a:rPr>
              <a:t>and Deep Learning for Medical Diagnostics.</a:t>
            </a:r>
          </a:p>
          <a:p>
            <a:pPr marL="91440" marR="77470" algn="just">
              <a:lnSpc>
                <a:spcPct val="102000"/>
              </a:lnSpc>
              <a:spcAft>
                <a:spcPts val="0"/>
              </a:spcAft>
            </a:pPr>
            <a:endParaRPr lang="en-IN" sz="2400" dirty="0">
              <a:effectLst/>
              <a:latin typeface="Calibri" panose="020F0502020204030204" pitchFamily="34" charset="0"/>
              <a:ea typeface="Calibri" panose="020F0502020204030204" pitchFamily="34" charset="0"/>
            </a:endParaRPr>
          </a:p>
          <a:p>
            <a:pPr marL="139065" algn="just">
              <a:lnSpc>
                <a:spcPts val="1825"/>
              </a:lnSpc>
            </a:pPr>
            <a:r>
              <a:rPr lang="en-US" sz="2400" dirty="0">
                <a:solidFill>
                  <a:srgbClr val="111111"/>
                </a:solidFill>
                <a:effectLst/>
                <a:latin typeface="Calibri" panose="020F0502020204030204" pitchFamily="34" charset="0"/>
                <a:ea typeface="Calibri" panose="020F0502020204030204" pitchFamily="34" charset="0"/>
              </a:rPr>
              <a:t>.</a:t>
            </a:r>
            <a:r>
              <a:rPr lang="en-US" sz="2400" spc="14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13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goal</a:t>
            </a:r>
            <a:r>
              <a:rPr lang="en-US" sz="2400" spc="19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of</a:t>
            </a:r>
            <a:r>
              <a:rPr lang="en-US" sz="2400" spc="13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13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project</a:t>
            </a:r>
            <a:r>
              <a:rPr lang="en-US" sz="2400" spc="18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is</a:t>
            </a:r>
            <a:r>
              <a:rPr lang="en-US" sz="2400" spc="15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to</a:t>
            </a:r>
            <a:r>
              <a:rPr lang="en-US" sz="2400" spc="16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create</a:t>
            </a:r>
            <a:r>
              <a:rPr lang="en-US" sz="2400" spc="14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a:t>
            </a:r>
            <a:r>
              <a:rPr lang="en-US" sz="2400" spc="255"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Medi</a:t>
            </a:r>
            <a:r>
              <a:rPr lang="en-US" sz="2400" b="1" spc="160"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bot</a:t>
            </a:r>
            <a:r>
              <a:rPr lang="en-US" sz="2400" b="1" spc="15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that</a:t>
            </a:r>
            <a:r>
              <a:rPr lang="en-US" sz="2400" spc="17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overcomes</a:t>
            </a:r>
            <a:r>
              <a:rPr lang="en-US" sz="2400" spc="16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13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proposed</a:t>
            </a:r>
            <a:r>
              <a:rPr lang="en-US" sz="2400" spc="16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methodology.</a:t>
            </a:r>
            <a:r>
              <a:rPr lang="en-US" sz="2400" spc="14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Many</a:t>
            </a:r>
            <a:r>
              <a:rPr lang="en-US" sz="2400" spc="220" dirty="0">
                <a:solidFill>
                  <a:srgbClr val="111111"/>
                </a:solidFill>
                <a:effectLst/>
                <a:latin typeface="Calibri" panose="020F0502020204030204" pitchFamily="34" charset="0"/>
                <a:ea typeface="Calibri" panose="020F0502020204030204" pitchFamily="34" charset="0"/>
              </a:rPr>
              <a:t> </a:t>
            </a:r>
            <a:r>
              <a:rPr lang="en-US" sz="2400" spc="-10" dirty="0">
                <a:solidFill>
                  <a:srgbClr val="111111"/>
                </a:solidFill>
                <a:effectLst/>
                <a:latin typeface="Calibri" panose="020F0502020204030204" pitchFamily="34" charset="0"/>
                <a:ea typeface="Calibri" panose="020F0502020204030204" pitchFamily="34" charset="0"/>
              </a:rPr>
              <a:t>people</a:t>
            </a:r>
          </a:p>
          <a:p>
            <a:pPr marL="139065" algn="just">
              <a:lnSpc>
                <a:spcPts val="1825"/>
              </a:lnSpc>
            </a:pPr>
            <a:endParaRPr lang="en-IN" sz="2400" dirty="0">
              <a:effectLst/>
              <a:latin typeface="Calibri" panose="020F0502020204030204" pitchFamily="34" charset="0"/>
              <a:ea typeface="Calibri" panose="020F0502020204030204" pitchFamily="34" charset="0"/>
            </a:endParaRPr>
          </a:p>
          <a:p>
            <a:pPr marL="91440" algn="just">
              <a:lnSpc>
                <a:spcPts val="1885"/>
              </a:lnSpc>
              <a:spcBef>
                <a:spcPts val="60"/>
              </a:spcBef>
              <a:spcAft>
                <a:spcPts val="0"/>
              </a:spcAft>
            </a:pPr>
            <a:r>
              <a:rPr lang="en-US" sz="2400" dirty="0">
                <a:solidFill>
                  <a:srgbClr val="111111"/>
                </a:solidFill>
                <a:effectLst/>
                <a:latin typeface="Calibri" panose="020F0502020204030204" pitchFamily="34" charset="0"/>
                <a:ea typeface="Calibri" panose="020F0502020204030204" pitchFamily="34" charset="0"/>
              </a:rPr>
              <a:t>could</a:t>
            </a:r>
            <a:r>
              <a:rPr lang="en-US" sz="2400" spc="2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not</a:t>
            </a:r>
            <a:r>
              <a:rPr lang="en-US" sz="2400" spc="1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meet</a:t>
            </a:r>
            <a:r>
              <a:rPr lang="en-US" sz="2400" spc="10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7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doctors</a:t>
            </a:r>
            <a:r>
              <a:rPr lang="en-US" sz="2400" spc="17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for</a:t>
            </a:r>
            <a:r>
              <a:rPr lang="en-US" sz="2400" spc="8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simple problems</a:t>
            </a:r>
            <a:r>
              <a:rPr lang="en-US" sz="2400" spc="25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such</a:t>
            </a:r>
            <a:r>
              <a:rPr lang="en-US" sz="2400" spc="11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as</a:t>
            </a:r>
            <a:r>
              <a:rPr lang="en-US" sz="2400" spc="1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cold</a:t>
            </a:r>
            <a:r>
              <a:rPr lang="en-US" sz="2400" spc="2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and</a:t>
            </a:r>
            <a:r>
              <a:rPr lang="en-US" sz="2400" spc="95" dirty="0">
                <a:solidFill>
                  <a:srgbClr val="111111"/>
                </a:solidFill>
                <a:effectLst/>
                <a:latin typeface="Calibri" panose="020F0502020204030204" pitchFamily="34" charset="0"/>
                <a:ea typeface="Calibri" panose="020F0502020204030204" pitchFamily="34" charset="0"/>
              </a:rPr>
              <a:t> </a:t>
            </a:r>
            <a:r>
              <a:rPr lang="en-US" sz="2400" spc="-10" dirty="0">
                <a:solidFill>
                  <a:srgbClr val="111111"/>
                </a:solidFill>
                <a:effectLst/>
                <a:latin typeface="Calibri" panose="020F0502020204030204" pitchFamily="34" charset="0"/>
                <a:ea typeface="Calibri" panose="020F0502020204030204" pitchFamily="34" charset="0"/>
              </a:rPr>
              <a:t>fever.</a:t>
            </a:r>
          </a:p>
          <a:p>
            <a:pPr marL="91440" algn="just">
              <a:lnSpc>
                <a:spcPts val="1885"/>
              </a:lnSpc>
              <a:spcBef>
                <a:spcPts val="60"/>
              </a:spcBef>
              <a:spcAft>
                <a:spcPts val="0"/>
              </a:spcAft>
            </a:pPr>
            <a:endParaRPr lang="en-IN" sz="2400" dirty="0">
              <a:effectLst/>
              <a:latin typeface="Calibri" panose="020F0502020204030204" pitchFamily="34" charset="0"/>
              <a:ea typeface="Calibri" panose="020F0502020204030204" pitchFamily="34" charset="0"/>
            </a:endParaRPr>
          </a:p>
          <a:p>
            <a:pPr marL="91440" marR="87630" algn="just">
              <a:lnSpc>
                <a:spcPct val="102000"/>
              </a:lnSpc>
              <a:spcAft>
                <a:spcPts val="0"/>
              </a:spcAft>
            </a:pPr>
            <a:r>
              <a:rPr lang="en-US" sz="2400" dirty="0">
                <a:solidFill>
                  <a:srgbClr val="111111"/>
                </a:solidFill>
                <a:effectLst/>
                <a:latin typeface="Calibri" panose="020F0502020204030204" pitchFamily="34" charset="0"/>
                <a:ea typeface="Calibri" panose="020F0502020204030204" pitchFamily="34" charset="0"/>
              </a:rPr>
              <a:t>.</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To</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reduce</a:t>
            </a:r>
            <a:r>
              <a:rPr lang="en-US" sz="2400" spc="19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these</a:t>
            </a:r>
            <a:r>
              <a:rPr lang="en-US" sz="2400" spc="19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cases,</a:t>
            </a:r>
            <a:r>
              <a:rPr lang="en-US" sz="2400" spc="200"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Medi</a:t>
            </a:r>
            <a:r>
              <a:rPr lang="en-US" sz="2400" b="1" spc="200"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bot</a:t>
            </a:r>
            <a:r>
              <a:rPr lang="en-US" sz="2400" b="1"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can</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communicate</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with</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18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patients</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and</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understand</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symptoms,</a:t>
            </a:r>
            <a:r>
              <a:rPr lang="en-US" sz="2400" spc="19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and also provide them with medicines. The scope of deploying </a:t>
            </a:r>
            <a:r>
              <a:rPr lang="en-US" sz="2400" b="1" dirty="0">
                <a:solidFill>
                  <a:srgbClr val="111111"/>
                </a:solidFill>
                <a:effectLst/>
                <a:latin typeface="Calibri" panose="020F0502020204030204" pitchFamily="34" charset="0"/>
                <a:ea typeface="Calibri" panose="020F0502020204030204" pitchFamily="34" charset="0"/>
              </a:rPr>
              <a:t>Medi bot </a:t>
            </a:r>
            <a:r>
              <a:rPr lang="en-US" sz="2400" dirty="0">
                <a:solidFill>
                  <a:srgbClr val="111111"/>
                </a:solidFill>
                <a:effectLst/>
                <a:latin typeface="Calibri" panose="020F0502020204030204" pitchFamily="34" charset="0"/>
                <a:ea typeface="Calibri" panose="020F0502020204030204" pitchFamily="34" charset="0"/>
              </a:rPr>
              <a:t>in healthcare is to provide medical assistance</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to patients</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remotely</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and</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reduce</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physical contact.</a:t>
            </a:r>
            <a:endParaRPr lang="en-IN" sz="2400" dirty="0">
              <a:effectLst/>
              <a:latin typeface="Calibri" panose="020F0502020204030204" pitchFamily="34" charset="0"/>
              <a:ea typeface="Calibri" panose="020F0502020204030204" pitchFamily="34" charset="0"/>
            </a:endParaRPr>
          </a:p>
          <a:p>
            <a:pPr marL="91440" algn="just">
              <a:lnSpc>
                <a:spcPts val="1830"/>
              </a:lnSpc>
            </a:pPr>
            <a:r>
              <a:rPr lang="en-US" sz="2400" dirty="0">
                <a:solidFill>
                  <a:srgbClr val="111111"/>
                </a:solidFill>
                <a:effectLst/>
                <a:latin typeface="Calibri" panose="020F0502020204030204" pitchFamily="34" charset="0"/>
                <a:ea typeface="Calibri" panose="020F0502020204030204" pitchFamily="34" charset="0"/>
              </a:rPr>
              <a:t>.</a:t>
            </a:r>
            <a:r>
              <a:rPr lang="en-US" sz="2400" spc="34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33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proposed</a:t>
            </a:r>
            <a:r>
              <a:rPr lang="en-US" sz="2400" spc="37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methodology</a:t>
            </a:r>
            <a:r>
              <a:rPr lang="en-US" sz="2400" spc="25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is</a:t>
            </a:r>
            <a:r>
              <a:rPr lang="en-US" sz="2400" spc="35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to</a:t>
            </a:r>
            <a:r>
              <a:rPr lang="en-US" sz="2400" spc="36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implement</a:t>
            </a:r>
            <a:r>
              <a:rPr lang="en-US" sz="2400" spc="360"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Medi</a:t>
            </a:r>
            <a:r>
              <a:rPr lang="en-US" sz="2400" b="1" spc="355"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bot</a:t>
            </a:r>
            <a:r>
              <a:rPr lang="en-US" sz="2400" b="1" spc="35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in</a:t>
            </a:r>
            <a:r>
              <a:rPr lang="en-US" sz="2400" spc="37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hospitals</a:t>
            </a:r>
            <a:r>
              <a:rPr lang="en-US" sz="2400" spc="36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to</a:t>
            </a:r>
            <a:r>
              <a:rPr lang="en-US" sz="2400" spc="37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help</a:t>
            </a:r>
            <a:r>
              <a:rPr lang="en-US" sz="2400" spc="37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people</a:t>
            </a:r>
            <a:r>
              <a:rPr lang="en-US" sz="2400" spc="33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from</a:t>
            </a:r>
            <a:r>
              <a:rPr lang="en-US" sz="2400" spc="39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34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spread</a:t>
            </a:r>
            <a:r>
              <a:rPr lang="en-US" sz="2400" spc="370" dirty="0">
                <a:solidFill>
                  <a:srgbClr val="111111"/>
                </a:solidFill>
                <a:effectLst/>
                <a:latin typeface="Calibri" panose="020F0502020204030204" pitchFamily="34" charset="0"/>
                <a:ea typeface="Calibri" panose="020F0502020204030204" pitchFamily="34" charset="0"/>
              </a:rPr>
              <a:t> </a:t>
            </a:r>
            <a:r>
              <a:rPr lang="en-US" sz="2400" spc="40" dirty="0">
                <a:solidFill>
                  <a:srgbClr val="111111"/>
                </a:solidFill>
                <a:effectLst/>
                <a:latin typeface="Calibri" panose="020F0502020204030204" pitchFamily="34" charset="0"/>
                <a:ea typeface="Calibri" panose="020F0502020204030204" pitchFamily="34" charset="0"/>
              </a:rPr>
              <a:t>of</a:t>
            </a:r>
          </a:p>
          <a:p>
            <a:pPr marL="91440" algn="just">
              <a:lnSpc>
                <a:spcPts val="1830"/>
              </a:lnSpc>
            </a:pPr>
            <a:endParaRPr lang="en-IN" sz="2400" dirty="0">
              <a:effectLst/>
              <a:latin typeface="Calibri" panose="020F0502020204030204" pitchFamily="34" charset="0"/>
              <a:ea typeface="Calibri" panose="020F0502020204030204" pitchFamily="34" charset="0"/>
            </a:endParaRPr>
          </a:p>
          <a:p>
            <a:pPr marL="91440" algn="just">
              <a:lnSpc>
                <a:spcPts val="1885"/>
              </a:lnSpc>
              <a:spcBef>
                <a:spcPts val="55"/>
              </a:spcBef>
              <a:spcAft>
                <a:spcPts val="0"/>
              </a:spcAft>
            </a:pPr>
            <a:r>
              <a:rPr lang="en-US" sz="2400" dirty="0">
                <a:solidFill>
                  <a:srgbClr val="111111"/>
                </a:solidFill>
                <a:effectLst/>
                <a:latin typeface="Calibri" panose="020F0502020204030204" pitchFamily="34" charset="0"/>
                <a:ea typeface="Calibri" panose="020F0502020204030204" pitchFamily="34" charset="0"/>
              </a:rPr>
              <a:t>diseases</a:t>
            </a:r>
            <a:r>
              <a:rPr lang="en-US" sz="2400" spc="14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and</a:t>
            </a:r>
            <a:r>
              <a:rPr lang="en-US" sz="2400" spc="9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reduce</a:t>
            </a:r>
            <a:r>
              <a:rPr lang="en-US" sz="2400" spc="14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1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physical</a:t>
            </a:r>
            <a:r>
              <a:rPr lang="en-US" sz="2400" spc="45" dirty="0">
                <a:solidFill>
                  <a:srgbClr val="111111"/>
                </a:solidFill>
                <a:effectLst/>
                <a:latin typeface="Calibri" panose="020F0502020204030204" pitchFamily="34" charset="0"/>
                <a:ea typeface="Calibri" panose="020F0502020204030204" pitchFamily="34" charset="0"/>
              </a:rPr>
              <a:t> </a:t>
            </a:r>
            <a:r>
              <a:rPr lang="en-US" sz="2400" spc="-10" dirty="0">
                <a:solidFill>
                  <a:srgbClr val="111111"/>
                </a:solidFill>
                <a:effectLst/>
                <a:latin typeface="Calibri" panose="020F0502020204030204" pitchFamily="34" charset="0"/>
                <a:ea typeface="Calibri" panose="020F0502020204030204" pitchFamily="34" charset="0"/>
              </a:rPr>
              <a:t>contact.</a:t>
            </a:r>
            <a:endParaRPr lang="en-IN" sz="2400" dirty="0">
              <a:effectLst/>
              <a:latin typeface="Calibri" panose="020F0502020204030204" pitchFamily="34" charset="0"/>
              <a:ea typeface="Calibri" panose="020F0502020204030204" pitchFamily="34" charset="0"/>
            </a:endParaRPr>
          </a:p>
          <a:p>
            <a:pPr marL="91440" marR="88265" algn="just">
              <a:lnSpc>
                <a:spcPct val="102000"/>
              </a:lnSpc>
              <a:spcAft>
                <a:spcPts val="0"/>
              </a:spcAft>
            </a:pPr>
            <a:endParaRPr lang="en-US" sz="2400" b="1" dirty="0">
              <a:solidFill>
                <a:srgbClr val="111111"/>
              </a:solidFill>
              <a:effectLst/>
              <a:latin typeface="Calibri" panose="020F0502020204030204" pitchFamily="34" charset="0"/>
              <a:ea typeface="Calibri" panose="020F0502020204030204" pitchFamily="34" charset="0"/>
            </a:endParaRPr>
          </a:p>
          <a:p>
            <a:pPr marL="91440" marR="88265" algn="just">
              <a:lnSpc>
                <a:spcPct val="102000"/>
              </a:lnSpc>
              <a:spcAft>
                <a:spcPts val="0"/>
              </a:spcAft>
            </a:pPr>
            <a:r>
              <a:rPr lang="en-US" sz="2400" b="1" dirty="0">
                <a:solidFill>
                  <a:srgbClr val="111111"/>
                </a:solidFill>
                <a:effectLst/>
                <a:latin typeface="Calibri" panose="020F0502020204030204" pitchFamily="34" charset="0"/>
                <a:ea typeface="Calibri" panose="020F0502020204030204" pitchFamily="34" charset="0"/>
              </a:rPr>
              <a:t>. Medi bot </a:t>
            </a:r>
            <a:r>
              <a:rPr lang="en-US" sz="2400" dirty="0">
                <a:solidFill>
                  <a:srgbClr val="111111"/>
                </a:solidFill>
                <a:effectLst/>
                <a:latin typeface="Calibri" panose="020F0502020204030204" pitchFamily="34" charset="0"/>
                <a:ea typeface="Calibri" panose="020F0502020204030204" pitchFamily="34" charset="0"/>
              </a:rPr>
              <a:t>can provide medical advice to doctors and patients about what to do in certain cases, which ultimately results</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in </a:t>
            </a:r>
          </a:p>
          <a:p>
            <a:pPr marL="91440" marR="88265" algn="just">
              <a:lnSpc>
                <a:spcPct val="102000"/>
              </a:lnSpc>
              <a:spcAft>
                <a:spcPts val="0"/>
              </a:spcAft>
            </a:pPr>
            <a:r>
              <a:rPr lang="en-US" sz="2400" dirty="0">
                <a:solidFill>
                  <a:srgbClr val="111111"/>
                </a:solidFill>
                <a:effectLst/>
                <a:latin typeface="Calibri" panose="020F0502020204030204" pitchFamily="34" charset="0"/>
                <a:ea typeface="Calibri" panose="020F0502020204030204" pitchFamily="34" charset="0"/>
              </a:rPr>
              <a:t>saving</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 lives of hundreds</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of people.</a:t>
            </a:r>
            <a:endParaRPr lang="en-IN" sz="2400" dirty="0">
              <a:latin typeface="Calibri" panose="020F0502020204030204" pitchFamily="34" charset="0"/>
              <a:ea typeface="Calibri" panose="020F0502020204030204" pitchFamily="34" charset="0"/>
            </a:endParaRPr>
          </a:p>
          <a:p>
            <a:pPr marL="91440" marR="88265" algn="just">
              <a:lnSpc>
                <a:spcPct val="102000"/>
              </a:lnSpc>
              <a:spcAft>
                <a:spcPts val="0"/>
              </a:spcAft>
            </a:pPr>
            <a:r>
              <a:rPr lang="en-US" sz="2400" dirty="0">
                <a:solidFill>
                  <a:srgbClr val="111111"/>
                </a:solidFill>
                <a:effectLst/>
                <a:latin typeface="Calibri" panose="020F0502020204030204" pitchFamily="34" charset="0"/>
                <a:ea typeface="Calibri" panose="020F0502020204030204" pitchFamily="34" charset="0"/>
              </a:rPr>
              <a:t>. The</a:t>
            </a:r>
            <a:r>
              <a:rPr lang="en-US" sz="2400" spc="6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AI-based</a:t>
            </a:r>
            <a:r>
              <a:rPr lang="en-US" sz="2400" spc="25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medical</a:t>
            </a:r>
            <a:r>
              <a:rPr lang="en-US" sz="2400" spc="3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chatbot</a:t>
            </a:r>
            <a:r>
              <a:rPr lang="en-US" sz="2400" spc="1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can</a:t>
            </a:r>
            <a:r>
              <a:rPr lang="en-US" sz="2400" spc="2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take</a:t>
            </a:r>
            <a:r>
              <a:rPr lang="en-US" sz="2400" spc="7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decisions</a:t>
            </a:r>
            <a:r>
              <a:rPr lang="en-US" sz="2400" spc="7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as</a:t>
            </a:r>
            <a:r>
              <a:rPr lang="en-US" sz="2400" spc="9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per</a:t>
            </a:r>
            <a:r>
              <a:rPr lang="en-US" sz="2400" spc="7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6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request</a:t>
            </a:r>
            <a:r>
              <a:rPr lang="en-US" sz="2400" spc="18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of</a:t>
            </a:r>
            <a:r>
              <a:rPr lang="en-US" sz="2400" spc="6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6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patient</a:t>
            </a:r>
            <a:r>
              <a:rPr lang="en-US" sz="2400" spc="1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by</a:t>
            </a:r>
            <a:r>
              <a:rPr lang="en-US" sz="2400" spc="-2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using</a:t>
            </a:r>
            <a:r>
              <a:rPr lang="en-US" sz="2400" spc="1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its</a:t>
            </a:r>
            <a:r>
              <a:rPr lang="en-US" sz="2400" spc="5" dirty="0">
                <a:solidFill>
                  <a:srgbClr val="111111"/>
                </a:solidFill>
                <a:effectLst/>
                <a:latin typeface="Calibri" panose="020F0502020204030204" pitchFamily="34" charset="0"/>
                <a:ea typeface="Calibri" panose="020F0502020204030204" pitchFamily="34" charset="0"/>
              </a:rPr>
              <a:t> </a:t>
            </a:r>
            <a:r>
              <a:rPr lang="en-US" sz="2400" spc="-10" dirty="0">
                <a:solidFill>
                  <a:srgbClr val="111111"/>
                </a:solidFill>
                <a:effectLst/>
                <a:latin typeface="Calibri" panose="020F0502020204030204" pitchFamily="34" charset="0"/>
                <a:ea typeface="Calibri" panose="020F0502020204030204" pitchFamily="34" charset="0"/>
              </a:rPr>
              <a:t>database.</a:t>
            </a:r>
            <a:endParaRPr lang="en-IN" sz="2400" dirty="0">
              <a:effectLst/>
              <a:latin typeface="Calibri" panose="020F0502020204030204" pitchFamily="34" charset="0"/>
              <a:ea typeface="Calibri" panose="020F0502020204030204" pitchFamily="34" charset="0"/>
            </a:endParaRPr>
          </a:p>
          <a:p>
            <a:pPr marL="91440" algn="just">
              <a:lnSpc>
                <a:spcPts val="1885"/>
              </a:lnSpc>
            </a:pPr>
            <a:r>
              <a:rPr lang="en-US" sz="2400" dirty="0">
                <a:solidFill>
                  <a:srgbClr val="111111"/>
                </a:solidFill>
                <a:effectLst/>
                <a:latin typeface="Calibri" panose="020F0502020204030204" pitchFamily="34" charset="0"/>
                <a:ea typeface="Calibri" panose="020F0502020204030204" pitchFamily="34" charset="0"/>
              </a:rPr>
              <a:t>.</a:t>
            </a:r>
            <a:r>
              <a:rPr lang="en-US" sz="2400" spc="-1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Through</a:t>
            </a:r>
            <a:r>
              <a:rPr lang="en-US" sz="2400" spc="17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chatbots,</a:t>
            </a:r>
            <a:r>
              <a:rPr lang="en-US" sz="2400" spc="8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one</a:t>
            </a:r>
            <a:r>
              <a:rPr lang="en-US" sz="2400" spc="5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can</a:t>
            </a:r>
            <a:r>
              <a:rPr lang="en-US" sz="2400" spc="1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speak</a:t>
            </a:r>
            <a:r>
              <a:rPr lang="en-US" sz="2400" spc="12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with</a:t>
            </a:r>
            <a:r>
              <a:rPr lang="en-US" sz="2400" spc="9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text</a:t>
            </a:r>
            <a:r>
              <a:rPr lang="en-US" sz="2400" spc="9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or</a:t>
            </a:r>
            <a:r>
              <a:rPr lang="en-US" sz="2400" spc="-1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voice</a:t>
            </a:r>
            <a:r>
              <a:rPr lang="en-US" sz="2400" spc="14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interface</a:t>
            </a:r>
            <a:r>
              <a:rPr lang="en-US" sz="2400" spc="13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and</a:t>
            </a:r>
            <a:r>
              <a:rPr lang="en-US" sz="2400" spc="1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get</a:t>
            </a:r>
            <a:r>
              <a:rPr lang="en-US" sz="2400" spc="8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answers</a:t>
            </a:r>
            <a:r>
              <a:rPr lang="en-US" sz="2400" spc="14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through</a:t>
            </a:r>
            <a:r>
              <a:rPr lang="en-US" sz="2400" spc="175" dirty="0">
                <a:solidFill>
                  <a:srgbClr val="111111"/>
                </a:solidFill>
                <a:effectLst/>
                <a:latin typeface="Calibri" panose="020F0502020204030204" pitchFamily="34" charset="0"/>
                <a:ea typeface="Calibri" panose="020F0502020204030204" pitchFamily="34" charset="0"/>
              </a:rPr>
              <a:t> </a:t>
            </a:r>
            <a:r>
              <a:rPr lang="en-US" sz="2400" spc="-25" dirty="0">
                <a:solidFill>
                  <a:srgbClr val="111111"/>
                </a:solidFill>
                <a:effectLst/>
                <a:latin typeface="Calibri" panose="020F0502020204030204" pitchFamily="34" charset="0"/>
                <a:ea typeface="Calibri" panose="020F0502020204030204" pitchFamily="34" charset="0"/>
              </a:rPr>
              <a:t>AI.</a:t>
            </a:r>
            <a:endParaRPr lang="en-IN" sz="2400" dirty="0">
              <a:effectLst/>
              <a:latin typeface="Calibri" panose="020F0502020204030204" pitchFamily="34" charset="0"/>
              <a:ea typeface="Calibri" panose="020F0502020204030204" pitchFamily="34" charset="0"/>
            </a:endParaRPr>
          </a:p>
          <a:p>
            <a:pPr marL="91440" marR="75565" algn="just">
              <a:lnSpc>
                <a:spcPct val="98000"/>
              </a:lnSpc>
              <a:spcBef>
                <a:spcPts val="75"/>
              </a:spcBef>
              <a:spcAft>
                <a:spcPts val="0"/>
              </a:spcAft>
            </a:pPr>
            <a:endParaRPr lang="en-US" sz="2400" dirty="0">
              <a:solidFill>
                <a:srgbClr val="111111"/>
              </a:solidFill>
              <a:effectLst/>
              <a:latin typeface="Calibri" panose="020F0502020204030204" pitchFamily="34" charset="0"/>
              <a:ea typeface="Calibri" panose="020F0502020204030204" pitchFamily="34" charset="0"/>
            </a:endParaRPr>
          </a:p>
          <a:p>
            <a:pPr marL="91440" marR="75565" algn="just">
              <a:lnSpc>
                <a:spcPct val="98000"/>
              </a:lnSpc>
              <a:spcBef>
                <a:spcPts val="75"/>
              </a:spcBef>
              <a:spcAft>
                <a:spcPts val="0"/>
              </a:spcAft>
            </a:pPr>
            <a:r>
              <a:rPr lang="en-US" sz="2400" dirty="0">
                <a:solidFill>
                  <a:srgbClr val="111111"/>
                </a:solidFill>
                <a:effectLst/>
                <a:latin typeface="Calibri" panose="020F0502020204030204" pitchFamily="34" charset="0"/>
                <a:ea typeface="Calibri" panose="020F0502020204030204" pitchFamily="34" charset="0"/>
              </a:rPr>
              <a:t>. Chatbots</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are programs</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built to</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automatically</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work on</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 received messages. Increasing</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numbers </a:t>
            </a:r>
            <a:r>
              <a:rPr lang="en-US" sz="2400" spc="65" dirty="0">
                <a:solidFill>
                  <a:srgbClr val="111111"/>
                </a:solidFill>
                <a:effectLst/>
                <a:latin typeface="Calibri" panose="020F0502020204030204" pitchFamily="34" charset="0"/>
                <a:ea typeface="Calibri" panose="020F0502020204030204" pitchFamily="34" charset="0"/>
              </a:rPr>
              <a:t>of </a:t>
            </a:r>
            <a:r>
              <a:rPr lang="en-US" sz="2400" dirty="0">
                <a:solidFill>
                  <a:srgbClr val="111111"/>
                </a:solidFill>
                <a:effectLst/>
                <a:latin typeface="Calibri" panose="020F0502020204030204" pitchFamily="34" charset="0"/>
                <a:ea typeface="Calibri" panose="020F0502020204030204" pitchFamily="34" charset="0"/>
              </a:rPr>
              <a:t>hospitals,</a:t>
            </a:r>
            <a:r>
              <a:rPr lang="en-US" sz="2400" spc="13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nursing</a:t>
            </a:r>
            <a:r>
              <a:rPr lang="en-US" sz="2400" spc="17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homes,</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and private</a:t>
            </a:r>
            <a:r>
              <a:rPr lang="en-US" sz="2400" spc="19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centers</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are</a:t>
            </a:r>
            <a:r>
              <a:rPr lang="en-US" sz="2400" spc="12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already</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using online</a:t>
            </a:r>
            <a:r>
              <a:rPr lang="en-US" sz="2400" spc="11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chatbots</a:t>
            </a:r>
            <a:r>
              <a:rPr lang="en-US" sz="2400" spc="14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for</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healthcare</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on their</a:t>
            </a:r>
            <a:r>
              <a:rPr lang="en-US" sz="2400" spc="14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sites.</a:t>
            </a:r>
            <a:endParaRPr lang="en-IN" sz="2400" dirty="0">
              <a:effectLst/>
              <a:latin typeface="Calibri" panose="020F0502020204030204" pitchFamily="34" charset="0"/>
              <a:ea typeface="Calibri" panose="020F0502020204030204" pitchFamily="34" charset="0"/>
            </a:endParaRPr>
          </a:p>
          <a:p>
            <a:pPr marL="91440" marR="88265" algn="just">
              <a:lnSpc>
                <a:spcPct val="102000"/>
              </a:lnSpc>
              <a:spcBef>
                <a:spcPts val="70"/>
              </a:spcBef>
              <a:spcAft>
                <a:spcPts val="0"/>
              </a:spcAft>
            </a:pPr>
            <a:r>
              <a:rPr lang="en-US" sz="2400" dirty="0">
                <a:solidFill>
                  <a:srgbClr val="111111"/>
                </a:solidFill>
                <a:effectLst/>
                <a:latin typeface="Calibri" panose="020F0502020204030204" pitchFamily="34" charset="0"/>
                <a:ea typeface="Calibri" panose="020F0502020204030204" pitchFamily="34" charset="0"/>
              </a:rPr>
              <a:t>.</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This</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is</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great</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step</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towards</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providing</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medical</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assistance</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to</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patients</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remotely</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and</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reducing</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physical </a:t>
            </a:r>
            <a:r>
              <a:rPr lang="en-US" sz="2400" spc="-10" dirty="0">
                <a:solidFill>
                  <a:srgbClr val="111111"/>
                </a:solidFill>
                <a:effectLst/>
                <a:latin typeface="Calibri" panose="020F0502020204030204" pitchFamily="34" charset="0"/>
                <a:ea typeface="Calibri" panose="020F0502020204030204" pitchFamily="34" charset="0"/>
              </a:rPr>
              <a:t>contact.</a:t>
            </a:r>
            <a:endParaRPr lang="en-IN" sz="2400" dirty="0">
              <a:effectLst/>
              <a:latin typeface="Calibri" panose="020F0502020204030204" pitchFamily="34" charset="0"/>
              <a:ea typeface="Calibri" panose="020F0502020204030204" pitchFamily="34"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7578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58106-50A7-7FEE-9F12-730E43C603AF}"/>
              </a:ext>
            </a:extLst>
          </p:cNvPr>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a:extLst>
              <a:ext uri="{FF2B5EF4-FFF2-40B4-BE49-F238E27FC236}">
                <a16:creationId xmlns:a16="http://schemas.microsoft.com/office/drawing/2014/main" id="{3585059F-2B67-1B78-42A2-116723C805B8}"/>
              </a:ext>
            </a:extLst>
          </p:cNvPr>
          <p:cNvSpPr>
            <a:spLocks noGrp="1"/>
          </p:cNvSpPr>
          <p:nvPr>
            <p:ph type="ftr" sz="quarter" idx="11"/>
          </p:nvPr>
        </p:nvSpPr>
        <p:spPr>
          <a:xfrm>
            <a:off x="5354327" y="9689678"/>
            <a:ext cx="7874975" cy="547688"/>
          </a:xfrm>
        </p:spPr>
        <p:txBody>
          <a:bodyPr/>
          <a:lstStyle/>
          <a:p>
            <a:r>
              <a:rPr lang="en-IN">
                <a:latin typeface="Calibri" panose="020F0502020204030204" pitchFamily="34" charset="0"/>
                <a:ea typeface="Calibri" panose="020F0502020204030204" pitchFamily="34" charset="0"/>
                <a:cs typeface="Calibri" panose="020F0502020204030204" pitchFamily="34" charset="0"/>
              </a:rPr>
              <a:t>DEPARTMENT OF</a:t>
            </a:r>
            <a:r>
              <a:rPr lang="en-IN" sz="1400" b="1">
                <a:latin typeface="Calibri" panose="020F0502020204030204" pitchFamily="34" charset="0"/>
                <a:ea typeface="Calibri" panose="020F0502020204030204" pitchFamily="34" charset="0"/>
                <a:cs typeface="Calibri" panose="020F0502020204030204" pitchFamily="34" charset="0"/>
              </a:rPr>
              <a:t> COMPUTER OF SCIENCE &amp; ENGINEERING</a:t>
            </a:r>
            <a:r>
              <a:rPr lang="en-IN">
                <a:latin typeface="Calibri" panose="020F0502020204030204" pitchFamily="34" charset="0"/>
                <a:ea typeface="Calibri" panose="020F0502020204030204" pitchFamily="34" charset="0"/>
                <a:cs typeface="Calibri" panose="020F0502020204030204" pitchFamily="34" charset="0"/>
              </a:rPr>
              <a:t>     </a:t>
            </a:r>
            <a:r>
              <a:rPr lang="en-IN"/>
              <a:t>/ deployment of medibot in healthcare</a:t>
            </a:r>
            <a:endParaRPr lang="en-IN" dirty="0"/>
          </a:p>
        </p:txBody>
      </p:sp>
      <p:sp>
        <p:nvSpPr>
          <p:cNvPr id="4" name="Slide Number Placeholder 3">
            <a:extLst>
              <a:ext uri="{FF2B5EF4-FFF2-40B4-BE49-F238E27FC236}">
                <a16:creationId xmlns:a16="http://schemas.microsoft.com/office/drawing/2014/main" id="{94AC1EC1-FA02-E2DB-662D-D4CB63E7EE5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a:t>
            </a:fld>
            <a:endParaRPr lang="en-US"/>
          </a:p>
        </p:txBody>
      </p:sp>
      <p:sp>
        <p:nvSpPr>
          <p:cNvPr id="5" name="TextBox 4">
            <a:extLst>
              <a:ext uri="{FF2B5EF4-FFF2-40B4-BE49-F238E27FC236}">
                <a16:creationId xmlns:a16="http://schemas.microsoft.com/office/drawing/2014/main" id="{CFBC0C24-58A4-E499-5311-3F7B27560E07}"/>
              </a:ext>
            </a:extLst>
          </p:cNvPr>
          <p:cNvSpPr txBox="1"/>
          <p:nvPr/>
        </p:nvSpPr>
        <p:spPr>
          <a:xfrm>
            <a:off x="290286" y="1"/>
            <a:ext cx="17320612" cy="8771632"/>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4000" b="1">
                <a:latin typeface="Times New Roman" panose="02020603050405020304" pitchFamily="18" charset="0"/>
                <a:cs typeface="Times New Roman" panose="02020603050405020304" pitchFamily="18" charset="0"/>
              </a:rPr>
              <a:t>OBJECTIVE&amp;SCOPE</a:t>
            </a:r>
            <a:endPar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4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sz="3600" dirty="0"/>
              <a:t>Aim of the Project</a:t>
            </a:r>
            <a:r>
              <a:rPr lang="en-US" sz="2800" dirty="0"/>
              <a:t>: The aim of deploying Medi bot in healthcare is to reduce physical contact and help people from the spread of diseases.</a:t>
            </a:r>
          </a:p>
          <a:p>
            <a:pPr marL="0" marR="0" lvl="0" indent="0" algn="just" defTabSz="914400" rtl="0" eaLnBrk="0" fontAlgn="base" latinLnBrk="0" hangingPunct="0">
              <a:lnSpc>
                <a:spcPct val="100000"/>
              </a:lnSpc>
              <a:spcBef>
                <a:spcPct val="0"/>
              </a:spcBef>
              <a:spcAft>
                <a:spcPct val="0"/>
              </a:spcAft>
              <a:buClrTx/>
              <a:buSzTx/>
              <a:buFontTx/>
              <a:buNone/>
              <a:tabLst/>
            </a:pPr>
            <a:r>
              <a:rPr lang="en-US" sz="2800" dirty="0"/>
              <a:t> Scope of the Project: The scope of deploying Medi bot in healthcare is to provide medical assistance to patients remotely and reduce physical contact.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800" dirty="0"/>
          </a:p>
          <a:p>
            <a:pPr marL="0" marR="0" lvl="0" indent="0" algn="just" defTabSz="914400" rtl="0" eaLnBrk="0" fontAlgn="base" latinLnBrk="0" hangingPunct="0">
              <a:lnSpc>
                <a:spcPct val="100000"/>
              </a:lnSpc>
              <a:spcBef>
                <a:spcPct val="0"/>
              </a:spcBef>
              <a:spcAft>
                <a:spcPct val="0"/>
              </a:spcAft>
              <a:buClrTx/>
              <a:buSzTx/>
              <a:buFontTx/>
              <a:buNone/>
              <a:tabLst/>
            </a:pPr>
            <a:r>
              <a:rPr lang="en-US" sz="2800" dirty="0"/>
              <a:t>Medi bot is a chatbot that uses Natural Language Processing (NLP) by text format and is supported by AI and Deep Learning for Medical Diagnostics.</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800" dirty="0"/>
          </a:p>
          <a:p>
            <a:pPr marL="0" marR="0" lvl="0" indent="0" algn="just" defTabSz="914400" rtl="0" eaLnBrk="0" fontAlgn="base" latinLnBrk="0" hangingPunct="0">
              <a:lnSpc>
                <a:spcPct val="100000"/>
              </a:lnSpc>
              <a:spcBef>
                <a:spcPct val="0"/>
              </a:spcBef>
              <a:spcAft>
                <a:spcPct val="0"/>
              </a:spcAft>
              <a:buClrTx/>
              <a:buSzTx/>
              <a:buFontTx/>
              <a:buNone/>
              <a:tabLst/>
            </a:pPr>
            <a:r>
              <a:rPr lang="en-US" sz="2800" dirty="0"/>
              <a:t> The proposed methodology is to implement Medi bot in hospitals to help people from the spread of diseases and reduce the physical contact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800" dirty="0"/>
          </a:p>
          <a:p>
            <a:pPr marL="0" marR="0" lvl="0" indent="0" algn="just" defTabSz="914400" rtl="0" eaLnBrk="0" fontAlgn="base" latinLnBrk="0" hangingPunct="0">
              <a:lnSpc>
                <a:spcPct val="100000"/>
              </a:lnSpc>
              <a:spcBef>
                <a:spcPct val="0"/>
              </a:spcBef>
              <a:spcAft>
                <a:spcPct val="0"/>
              </a:spcAft>
              <a:buClrTx/>
              <a:buSzTx/>
              <a:buFontTx/>
              <a:buNone/>
              <a:tabLst/>
            </a:pPr>
            <a:r>
              <a:rPr lang="en-US" sz="2800" dirty="0"/>
              <a:t> The goal of the project is to create a Medi bot that over comes the proposed methodology.</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800" dirty="0"/>
          </a:p>
          <a:p>
            <a:pPr marL="0" marR="0" lvl="0" indent="0" algn="just" defTabSz="914400" rtl="0" eaLnBrk="0" fontAlgn="base" latinLnBrk="0" hangingPunct="0">
              <a:lnSpc>
                <a:spcPct val="100000"/>
              </a:lnSpc>
              <a:spcBef>
                <a:spcPct val="0"/>
              </a:spcBef>
              <a:spcAft>
                <a:spcPct val="0"/>
              </a:spcAft>
              <a:buClrTx/>
              <a:buSzTx/>
              <a:buFontTx/>
              <a:buNone/>
              <a:tabLst/>
            </a:pPr>
            <a:r>
              <a:rPr lang="en-US" sz="2800" dirty="0"/>
              <a:t> Many people could not meet the doctors for simple problems such as cold and fever. To reduce these cases, Medi bot can communicate with the patients and understand the symptoms, and also provide them with medicines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9070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172725-B7C6-223D-C223-330E64D9E22A}"/>
              </a:ext>
            </a:extLst>
          </p:cNvPr>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a:extLst>
              <a:ext uri="{FF2B5EF4-FFF2-40B4-BE49-F238E27FC236}">
                <a16:creationId xmlns:a16="http://schemas.microsoft.com/office/drawing/2014/main" id="{FAFF13D2-AAAE-460F-A12E-B21A464BC420}"/>
              </a:ext>
            </a:extLst>
          </p:cNvPr>
          <p:cNvSpPr>
            <a:spLocks noGrp="1"/>
          </p:cNvSpPr>
          <p:nvPr>
            <p:ph type="ftr" sz="quarter" idx="11"/>
          </p:nvPr>
        </p:nvSpPr>
        <p:spPr>
          <a:xfrm>
            <a:off x="4964822" y="9318171"/>
            <a:ext cx="9885866" cy="1277258"/>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DEPARTMENT OF</a:t>
            </a:r>
            <a:r>
              <a:rPr lang="en-IN" sz="1400" b="1" dirty="0">
                <a:latin typeface="Calibri" panose="020F0502020204030204" pitchFamily="34" charset="0"/>
                <a:ea typeface="Calibri" panose="020F0502020204030204" pitchFamily="34" charset="0"/>
                <a:cs typeface="Calibri" panose="020F0502020204030204" pitchFamily="34" charset="0"/>
              </a:rPr>
              <a:t> COMPUTER OF SCIENCE &amp; ENGINEERING</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a:t>/ deployment of </a:t>
            </a:r>
            <a:r>
              <a:rPr lang="en-IN" dirty="0" err="1"/>
              <a:t>medibot</a:t>
            </a:r>
            <a:r>
              <a:rPr lang="en-IN" dirty="0"/>
              <a:t> in healthcare</a:t>
            </a:r>
          </a:p>
          <a:p>
            <a:endParaRPr lang="en-IN" dirty="0"/>
          </a:p>
        </p:txBody>
      </p:sp>
      <p:sp>
        <p:nvSpPr>
          <p:cNvPr id="4" name="Slide Number Placeholder 3">
            <a:extLst>
              <a:ext uri="{FF2B5EF4-FFF2-40B4-BE49-F238E27FC236}">
                <a16:creationId xmlns:a16="http://schemas.microsoft.com/office/drawing/2014/main" id="{C8EC5B28-1F55-45CC-8512-A84E6C6E7F9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a:p>
        </p:txBody>
      </p:sp>
      <mc:AlternateContent xmlns:mc="http://schemas.openxmlformats.org/markup-compatibility/2006" xmlns:p14="http://schemas.microsoft.com/office/powerpoint/2010/main">
        <mc:Choice Requires="p14">
          <p:contentPart p14:bwMode="auto" r:id="rId2">
            <p14:nvContentPartPr>
              <p14:cNvPr id="67" name="Ink 66">
                <a:extLst>
                  <a:ext uri="{FF2B5EF4-FFF2-40B4-BE49-F238E27FC236}">
                    <a16:creationId xmlns:a16="http://schemas.microsoft.com/office/drawing/2014/main" id="{B336561E-5EB1-9BA1-4D65-8212B36ECD09}"/>
                  </a:ext>
                </a:extLst>
              </p14:cNvPr>
              <p14:cNvContentPartPr/>
              <p14:nvPr/>
            </p14:nvContentPartPr>
            <p14:xfrm>
              <a:off x="1814263" y="841469"/>
              <a:ext cx="360" cy="360"/>
            </p14:xfrm>
          </p:contentPart>
        </mc:Choice>
        <mc:Fallback xmlns="">
          <p:pic>
            <p:nvPicPr>
              <p:cNvPr id="67" name="Ink 66">
                <a:extLst>
                  <a:ext uri="{FF2B5EF4-FFF2-40B4-BE49-F238E27FC236}">
                    <a16:creationId xmlns:a16="http://schemas.microsoft.com/office/drawing/2014/main" id="{B336561E-5EB1-9BA1-4D65-8212B36ECD09}"/>
                  </a:ext>
                </a:extLst>
              </p:cNvPr>
              <p:cNvPicPr/>
              <p:nvPr/>
            </p:nvPicPr>
            <p:blipFill>
              <a:blip r:embed="rId3"/>
              <a:stretch>
                <a:fillRect/>
              </a:stretch>
            </p:blipFill>
            <p:spPr>
              <a:xfrm>
                <a:off x="1808143" y="835349"/>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8" name="Ink 67">
                <a:extLst>
                  <a:ext uri="{FF2B5EF4-FFF2-40B4-BE49-F238E27FC236}">
                    <a16:creationId xmlns:a16="http://schemas.microsoft.com/office/drawing/2014/main" id="{A8F1A2A9-BBBB-EBBE-4CDD-185F48440D74}"/>
                  </a:ext>
                </a:extLst>
              </p14:cNvPr>
              <p14:cNvContentPartPr/>
              <p14:nvPr/>
            </p14:nvContentPartPr>
            <p14:xfrm>
              <a:off x="2307823" y="928589"/>
              <a:ext cx="360" cy="360"/>
            </p14:xfrm>
          </p:contentPart>
        </mc:Choice>
        <mc:Fallback xmlns="">
          <p:pic>
            <p:nvPicPr>
              <p:cNvPr id="68" name="Ink 67">
                <a:extLst>
                  <a:ext uri="{FF2B5EF4-FFF2-40B4-BE49-F238E27FC236}">
                    <a16:creationId xmlns:a16="http://schemas.microsoft.com/office/drawing/2014/main" id="{A8F1A2A9-BBBB-EBBE-4CDD-185F48440D74}"/>
                  </a:ext>
                </a:extLst>
              </p:cNvPr>
              <p:cNvPicPr/>
              <p:nvPr/>
            </p:nvPicPr>
            <p:blipFill>
              <a:blip r:embed="rId3"/>
              <a:stretch>
                <a:fillRect/>
              </a:stretch>
            </p:blipFill>
            <p:spPr>
              <a:xfrm>
                <a:off x="2301703" y="922469"/>
                <a:ext cx="12600" cy="12600"/>
              </a:xfrm>
              <a:prstGeom prst="rect">
                <a:avLst/>
              </a:prstGeom>
            </p:spPr>
          </p:pic>
        </mc:Fallback>
      </mc:AlternateContent>
      <p:sp>
        <p:nvSpPr>
          <p:cNvPr id="69" name="TextBox 68">
            <a:extLst>
              <a:ext uri="{FF2B5EF4-FFF2-40B4-BE49-F238E27FC236}">
                <a16:creationId xmlns:a16="http://schemas.microsoft.com/office/drawing/2014/main" id="{69E3B3EF-2D55-C703-4B2B-5DEF10B743FE}"/>
              </a:ext>
            </a:extLst>
          </p:cNvPr>
          <p:cNvSpPr txBox="1"/>
          <p:nvPr/>
        </p:nvSpPr>
        <p:spPr>
          <a:xfrm>
            <a:off x="4123857" y="841469"/>
            <a:ext cx="10448486"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 TOOLS TO BE USED IN THE PROJECT</a:t>
            </a:r>
          </a:p>
        </p:txBody>
      </p:sp>
      <p:sp>
        <p:nvSpPr>
          <p:cNvPr id="70" name="TextBox 69">
            <a:extLst>
              <a:ext uri="{FF2B5EF4-FFF2-40B4-BE49-F238E27FC236}">
                <a16:creationId xmlns:a16="http://schemas.microsoft.com/office/drawing/2014/main" id="{10986652-37A3-EDF6-8A41-330887EDCA08}"/>
              </a:ext>
            </a:extLst>
          </p:cNvPr>
          <p:cNvSpPr txBox="1"/>
          <p:nvPr/>
        </p:nvSpPr>
        <p:spPr>
          <a:xfrm>
            <a:off x="290286" y="2046514"/>
            <a:ext cx="14238515" cy="6555641"/>
          </a:xfrm>
          <a:prstGeom prst="rect">
            <a:avLst/>
          </a:prstGeom>
          <a:noFill/>
        </p:spPr>
        <p:txBody>
          <a:bodyPr wrap="square" rtlCol="0">
            <a:spAutoFit/>
          </a:bodyPr>
          <a:lstStyle/>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PROGRAMMING LANGUAGE USED</a:t>
            </a:r>
          </a:p>
          <a:p>
            <a:pPr marL="457200" indent="-457200">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Java, python</a:t>
            </a:r>
          </a:p>
          <a:p>
            <a:pPr marL="457200" indent="-457200">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TECHNOLOGIES USED</a:t>
            </a:r>
          </a:p>
          <a:p>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Natural </a:t>
            </a:r>
            <a:r>
              <a:rPr lang="en-IN" sz="2800">
                <a:latin typeface="Times New Roman" panose="02020603050405020304" pitchFamily="18" charset="0"/>
                <a:cs typeface="Times New Roman" panose="02020603050405020304" pitchFamily="18" charset="0"/>
              </a:rPr>
              <a:t>language Processing</a:t>
            </a: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Machine Learning Models</a:t>
            </a:r>
          </a:p>
          <a:p>
            <a:pPr marL="457200"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Cloud based Infrastructure</a:t>
            </a:r>
          </a:p>
          <a:p>
            <a:pPr marL="457200" indent="-457200">
              <a:buFont typeface="Wingdings" panose="05000000000000000000" pitchFamily="2" charset="2"/>
              <a:buChar char="§"/>
            </a:pPr>
            <a:r>
              <a:rPr lang="en-IN" sz="2800" dirty="0" err="1">
                <a:latin typeface="Times New Roman" panose="02020603050405020304" pitchFamily="18" charset="0"/>
                <a:cs typeface="Times New Roman" panose="02020603050405020304" pitchFamily="18" charset="0"/>
              </a:rPr>
              <a:t>Interperable</a:t>
            </a:r>
            <a:r>
              <a:rPr lang="en-IN" sz="2800" dirty="0">
                <a:latin typeface="Times New Roman" panose="02020603050405020304" pitchFamily="18" charset="0"/>
                <a:cs typeface="Times New Roman" panose="02020603050405020304" pitchFamily="18" charset="0"/>
              </a:rPr>
              <a:t> Health Data Systems</a:t>
            </a:r>
          </a:p>
          <a:p>
            <a:pPr marL="457200"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HIPAA Compliance &amp;Data Security</a:t>
            </a:r>
          </a:p>
          <a:p>
            <a:pPr marL="457200"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API integrations</a:t>
            </a:r>
          </a:p>
          <a:p>
            <a:pPr marL="457200"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Speech Recognition</a:t>
            </a:r>
          </a:p>
          <a:p>
            <a:pPr marL="457200" indent="-457200">
              <a:buFont typeface="Wingdings" panose="05000000000000000000" pitchFamily="2" charset="2"/>
              <a:buChar char="§"/>
            </a:pP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endParaRPr lang="en-IN" sz="2800" dirty="0">
              <a:latin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id="{69D0F07D-624C-556B-C29F-6860C2746F7F}"/>
              </a:ext>
            </a:extLst>
          </p:cNvPr>
          <p:cNvGrpSpPr/>
          <p:nvPr/>
        </p:nvGrpSpPr>
        <p:grpSpPr>
          <a:xfrm>
            <a:off x="15905747" y="524063"/>
            <a:ext cx="1703553" cy="1791325"/>
            <a:chOff x="0" y="0"/>
            <a:chExt cx="1123950" cy="1123950"/>
          </a:xfrm>
        </p:grpSpPr>
        <p:pic>
          <p:nvPicPr>
            <p:cNvPr id="6" name="Picture 5">
              <a:extLst>
                <a:ext uri="{FF2B5EF4-FFF2-40B4-BE49-F238E27FC236}">
                  <a16:creationId xmlns:a16="http://schemas.microsoft.com/office/drawing/2014/main" id="{E7F7FB88-5FAB-A0C5-0C36-CB0B0273D950}"/>
                </a:ext>
              </a:extLst>
            </p:cNvPr>
            <p:cNvPicPr/>
            <p:nvPr/>
          </p:nvPicPr>
          <p:blipFill>
            <a:blip r:embed="rId5"/>
            <a:stretch>
              <a:fillRect/>
            </a:stretch>
          </p:blipFill>
          <p:spPr>
            <a:xfrm>
              <a:off x="0" y="0"/>
              <a:ext cx="1123950" cy="1123950"/>
            </a:xfrm>
            <a:prstGeom prst="rect">
              <a:avLst/>
            </a:prstGeom>
          </p:spPr>
        </p:pic>
      </p:grpSp>
    </p:spTree>
    <p:extLst>
      <p:ext uri="{BB962C8B-B14F-4D97-AF65-F5344CB8AC3E}">
        <p14:creationId xmlns:p14="http://schemas.microsoft.com/office/powerpoint/2010/main" val="4106480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A31B3F-5390-9584-E40A-64475B97255B}"/>
              </a:ext>
            </a:extLst>
          </p:cNvPr>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a:extLst>
              <a:ext uri="{FF2B5EF4-FFF2-40B4-BE49-F238E27FC236}">
                <a16:creationId xmlns:a16="http://schemas.microsoft.com/office/drawing/2014/main" id="{4B588CDB-E9A0-B6CF-D92A-62CA7CEFEADC}"/>
              </a:ext>
            </a:extLst>
          </p:cNvPr>
          <p:cNvSpPr>
            <a:spLocks noGrp="1"/>
          </p:cNvSpPr>
          <p:nvPr>
            <p:ph type="ftr" sz="quarter" idx="11"/>
          </p:nvPr>
        </p:nvSpPr>
        <p:spPr>
          <a:xfrm>
            <a:off x="4365523" y="9689678"/>
            <a:ext cx="9350477" cy="547688"/>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DEPARTMENT OF</a:t>
            </a:r>
            <a:r>
              <a:rPr lang="en-IN" sz="1400" b="1" dirty="0">
                <a:latin typeface="Calibri" panose="020F0502020204030204" pitchFamily="34" charset="0"/>
                <a:ea typeface="Calibri" panose="020F0502020204030204" pitchFamily="34" charset="0"/>
                <a:cs typeface="Calibri" panose="020F0502020204030204" pitchFamily="34" charset="0"/>
              </a:rPr>
              <a:t> COMPUTER OF SCIENCE &amp; ENGINEERING</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a:t>/ deployment of </a:t>
            </a:r>
            <a:r>
              <a:rPr lang="en-IN" dirty="0" err="1"/>
              <a:t>medibot</a:t>
            </a:r>
            <a:r>
              <a:rPr lang="en-IN" dirty="0"/>
              <a:t> in healthcare</a:t>
            </a:r>
          </a:p>
          <a:p>
            <a:endParaRPr lang="en-IN" dirty="0"/>
          </a:p>
        </p:txBody>
      </p:sp>
      <p:sp>
        <p:nvSpPr>
          <p:cNvPr id="4" name="Slide Number Placeholder 3">
            <a:extLst>
              <a:ext uri="{FF2B5EF4-FFF2-40B4-BE49-F238E27FC236}">
                <a16:creationId xmlns:a16="http://schemas.microsoft.com/office/drawing/2014/main" id="{17069AD1-BBC1-CB59-6F23-D1C0BE48E01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a:p>
        </p:txBody>
      </p:sp>
      <p:sp>
        <p:nvSpPr>
          <p:cNvPr id="6" name="TextBox 5">
            <a:extLst>
              <a:ext uri="{FF2B5EF4-FFF2-40B4-BE49-F238E27FC236}">
                <a16:creationId xmlns:a16="http://schemas.microsoft.com/office/drawing/2014/main" id="{9E7A0952-D922-790E-593D-0DFBEDBF5D13}"/>
              </a:ext>
            </a:extLst>
          </p:cNvPr>
          <p:cNvSpPr txBox="1"/>
          <p:nvPr/>
        </p:nvSpPr>
        <p:spPr>
          <a:xfrm>
            <a:off x="1271052" y="761185"/>
            <a:ext cx="16421862" cy="7437421"/>
          </a:xfrm>
          <a:prstGeom prst="rect">
            <a:avLst/>
          </a:prstGeom>
          <a:noFill/>
        </p:spPr>
        <p:txBody>
          <a:bodyPr wrap="square">
            <a:spAutoFit/>
          </a:bodyPr>
          <a:lstStyle/>
          <a:p>
            <a:pPr algn="ctr"/>
            <a:r>
              <a:rPr lang="en-IN" sz="4000" b="1" spc="-30" dirty="0">
                <a:latin typeface="Times New Roman" panose="02020603050405020304" pitchFamily="18" charset="0"/>
                <a:cs typeface="Times New Roman" panose="02020603050405020304" pitchFamily="18" charset="0"/>
              </a:rPr>
              <a:t>SOCIETAL IMPORTANCE OF THE PROJECT</a:t>
            </a:r>
          </a:p>
          <a:p>
            <a:endParaRPr lang="en-US" sz="2400" dirty="0">
              <a:latin typeface="Times New Roman" panose="02020603050405020304" pitchFamily="18" charset="0"/>
              <a:cs typeface="Times New Roman" panose="02020603050405020304" pitchFamily="18" charset="0"/>
            </a:endParaRPr>
          </a:p>
          <a:p>
            <a:pPr marL="91440"/>
            <a:r>
              <a:rPr lang="en-US" sz="2400" b="1" dirty="0">
                <a:solidFill>
                  <a:srgbClr val="111111"/>
                </a:solidFill>
                <a:effectLst/>
                <a:latin typeface="Calibri" panose="020F0502020204030204" pitchFamily="34" charset="0"/>
                <a:ea typeface="Calibri" panose="020F0502020204030204" pitchFamily="34" charset="0"/>
              </a:rPr>
              <a:t>.</a:t>
            </a:r>
            <a:r>
              <a:rPr lang="en-US" sz="2400" b="1" spc="-2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Deploying</a:t>
            </a:r>
            <a:r>
              <a:rPr lang="en-US" sz="2400" spc="11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a:t>
            </a:r>
            <a:r>
              <a:rPr lang="en-US" sz="2400" spc="20"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Medi</a:t>
            </a:r>
            <a:r>
              <a:rPr lang="en-US" sz="2400" b="1" spc="90"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bot</a:t>
            </a:r>
            <a:r>
              <a:rPr lang="en-US" sz="2400" b="1" spc="9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is</a:t>
            </a:r>
            <a:r>
              <a:rPr lang="en-US" sz="2400" spc="1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not</a:t>
            </a:r>
            <a:r>
              <a:rPr lang="en-US" sz="2400" spc="1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an</a:t>
            </a:r>
            <a:r>
              <a:rPr lang="en-US" sz="2400" spc="2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easy</a:t>
            </a:r>
            <a:r>
              <a:rPr lang="en-US" sz="2400" spc="6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task</a:t>
            </a:r>
            <a:r>
              <a:rPr lang="en-US" sz="2400" spc="13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in</a:t>
            </a:r>
            <a:r>
              <a:rPr lang="en-US" sz="2400" spc="-5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65" dirty="0">
                <a:solidFill>
                  <a:srgbClr val="111111"/>
                </a:solidFill>
                <a:effectLst/>
                <a:latin typeface="Calibri" panose="020F0502020204030204" pitchFamily="34" charset="0"/>
                <a:ea typeface="Calibri" panose="020F0502020204030204" pitchFamily="34" charset="0"/>
              </a:rPr>
              <a:t> </a:t>
            </a:r>
            <a:r>
              <a:rPr lang="en-US" sz="2400" spc="-10" dirty="0">
                <a:solidFill>
                  <a:srgbClr val="111111"/>
                </a:solidFill>
                <a:effectLst/>
                <a:latin typeface="Calibri" panose="020F0502020204030204" pitchFamily="34" charset="0"/>
                <a:ea typeface="Calibri" panose="020F0502020204030204" pitchFamily="34" charset="0"/>
              </a:rPr>
              <a:t>healthcare.</a:t>
            </a:r>
            <a:endParaRPr lang="en-IN" sz="2400" dirty="0">
              <a:effectLst/>
              <a:latin typeface="Calibri" panose="020F0502020204030204" pitchFamily="34" charset="0"/>
              <a:ea typeface="Calibri" panose="020F0502020204030204" pitchFamily="34" charset="0"/>
            </a:endParaRPr>
          </a:p>
          <a:p>
            <a:pPr marL="91440">
              <a:spcBef>
                <a:spcPts val="1035"/>
              </a:spcBef>
              <a:spcAft>
                <a:spcPts val="0"/>
              </a:spcAft>
            </a:pPr>
            <a:r>
              <a:rPr lang="en-US" sz="2400" b="1" dirty="0">
                <a:solidFill>
                  <a:srgbClr val="111111"/>
                </a:solidFill>
                <a:effectLst/>
                <a:latin typeface="Calibri" panose="020F0502020204030204" pitchFamily="34" charset="0"/>
                <a:ea typeface="Calibri" panose="020F0502020204030204" pitchFamily="34" charset="0"/>
              </a:rPr>
              <a:t>.</a:t>
            </a:r>
            <a:r>
              <a:rPr lang="en-US" sz="2400" b="1" spc="-25"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Medi</a:t>
            </a:r>
            <a:r>
              <a:rPr lang="en-US" sz="2400" b="1" spc="90"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bot</a:t>
            </a:r>
            <a:r>
              <a:rPr lang="en-US" sz="2400" b="1" spc="7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is</a:t>
            </a:r>
            <a:r>
              <a:rPr lang="en-US" sz="2400" spc="1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an</a:t>
            </a:r>
            <a:r>
              <a:rPr lang="en-US" sz="2400" spc="9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AI-powered</a:t>
            </a:r>
            <a:r>
              <a:rPr lang="en-US" sz="2400" spc="25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chatbot</a:t>
            </a:r>
            <a:r>
              <a:rPr lang="en-US" sz="2400" spc="9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that</a:t>
            </a:r>
            <a:r>
              <a:rPr lang="en-US" sz="2400" spc="1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provides</a:t>
            </a:r>
            <a:r>
              <a:rPr lang="en-US" sz="2400" spc="16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medical</a:t>
            </a:r>
            <a:r>
              <a:rPr lang="en-US" sz="2400" spc="11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advice</a:t>
            </a:r>
            <a:r>
              <a:rPr lang="en-US" sz="2400" spc="6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and</a:t>
            </a:r>
            <a:r>
              <a:rPr lang="en-US" sz="2400" spc="1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assistance</a:t>
            </a:r>
            <a:r>
              <a:rPr lang="en-US" sz="2400" spc="14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to</a:t>
            </a:r>
            <a:r>
              <a:rPr lang="en-US" sz="2400" spc="15" dirty="0">
                <a:solidFill>
                  <a:srgbClr val="111111"/>
                </a:solidFill>
                <a:effectLst/>
                <a:latin typeface="Calibri" panose="020F0502020204030204" pitchFamily="34" charset="0"/>
                <a:ea typeface="Calibri" panose="020F0502020204030204" pitchFamily="34" charset="0"/>
              </a:rPr>
              <a:t> </a:t>
            </a:r>
            <a:r>
              <a:rPr lang="en-US" sz="2400" spc="-10" dirty="0">
                <a:solidFill>
                  <a:srgbClr val="111111"/>
                </a:solidFill>
                <a:effectLst/>
                <a:latin typeface="Calibri" panose="020F0502020204030204" pitchFamily="34" charset="0"/>
                <a:ea typeface="Calibri" panose="020F0502020204030204" pitchFamily="34" charset="0"/>
              </a:rPr>
              <a:t>patients.</a:t>
            </a:r>
            <a:endParaRPr lang="en-IN" sz="2400" dirty="0">
              <a:effectLst/>
              <a:latin typeface="Calibri" panose="020F0502020204030204" pitchFamily="34" charset="0"/>
              <a:ea typeface="Calibri" panose="020F0502020204030204" pitchFamily="34" charset="0"/>
            </a:endParaRPr>
          </a:p>
          <a:p>
            <a:pPr marL="91440" indent="47625">
              <a:lnSpc>
                <a:spcPct val="95000"/>
              </a:lnSpc>
              <a:spcBef>
                <a:spcPts val="1115"/>
              </a:spcBef>
              <a:spcAft>
                <a:spcPts val="0"/>
              </a:spcAft>
            </a:pPr>
            <a:r>
              <a:rPr lang="en-US" sz="2400" b="1"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While </a:t>
            </a:r>
            <a:r>
              <a:rPr lang="en-US" sz="2400" b="1" dirty="0">
                <a:solidFill>
                  <a:srgbClr val="111111"/>
                </a:solidFill>
                <a:effectLst/>
                <a:latin typeface="Calibri" panose="020F0502020204030204" pitchFamily="34" charset="0"/>
                <a:ea typeface="Calibri" panose="020F0502020204030204" pitchFamily="34" charset="0"/>
              </a:rPr>
              <a:t>Medi bot</a:t>
            </a:r>
            <a:r>
              <a:rPr lang="en-US" sz="2400" b="1" spc="17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has the potential</a:t>
            </a:r>
            <a:r>
              <a:rPr lang="en-US" sz="2400" spc="13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to</a:t>
            </a:r>
            <a:r>
              <a:rPr lang="en-US" sz="2400" spc="11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improve</a:t>
            </a:r>
            <a:r>
              <a:rPr lang="en-US" sz="2400" spc="16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access</a:t>
            </a:r>
            <a:r>
              <a:rPr lang="en-US" sz="2400" spc="10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to healthcare</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and reduce</a:t>
            </a:r>
            <a:r>
              <a:rPr lang="en-US" sz="2400" spc="16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 burden</a:t>
            </a:r>
            <a:r>
              <a:rPr lang="en-US" sz="2400" spc="11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on</a:t>
            </a:r>
            <a:r>
              <a:rPr lang="en-US" sz="2400" spc="11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healthcare systems, it also raises several</a:t>
            </a:r>
            <a:r>
              <a:rPr lang="en-US" sz="2400" spc="20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societal problems.</a:t>
            </a:r>
            <a:endParaRPr lang="en-IN" sz="2400" dirty="0">
              <a:effectLst/>
              <a:latin typeface="Calibri" panose="020F0502020204030204" pitchFamily="34" charset="0"/>
              <a:ea typeface="Calibri" panose="020F0502020204030204" pitchFamily="34" charset="0"/>
            </a:endParaRPr>
          </a:p>
          <a:p>
            <a:pPr marL="91440">
              <a:lnSpc>
                <a:spcPts val="1810"/>
              </a:lnSpc>
              <a:spcBef>
                <a:spcPts val="1060"/>
              </a:spcBef>
              <a:spcAft>
                <a:spcPts val="0"/>
              </a:spcAft>
            </a:pPr>
            <a:r>
              <a:rPr lang="en-US" sz="2400" b="1" dirty="0">
                <a:solidFill>
                  <a:srgbClr val="111111"/>
                </a:solidFill>
                <a:effectLst/>
                <a:latin typeface="Calibri" panose="020F0502020204030204" pitchFamily="34" charset="0"/>
                <a:ea typeface="Calibri" panose="020F0502020204030204" pitchFamily="34" charset="0"/>
              </a:rPr>
              <a:t>.</a:t>
            </a:r>
            <a:r>
              <a:rPr lang="en-US" sz="2400" b="1" spc="-2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One</a:t>
            </a:r>
            <a:r>
              <a:rPr lang="en-US" sz="2400" spc="5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of</a:t>
            </a:r>
            <a:r>
              <a:rPr lang="en-US" sz="2400" spc="6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5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most</a:t>
            </a:r>
            <a:r>
              <a:rPr lang="en-US" sz="2400" spc="1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pressing</a:t>
            </a:r>
            <a:r>
              <a:rPr lang="en-US" sz="2400" spc="17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problems</a:t>
            </a:r>
            <a:r>
              <a:rPr lang="en-US" sz="2400" spc="15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is the</a:t>
            </a:r>
            <a:r>
              <a:rPr lang="en-US" sz="2400" spc="90"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potential</a:t>
            </a:r>
            <a:r>
              <a:rPr lang="en-US" sz="2400" b="1" spc="155"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for</a:t>
            </a:r>
            <a:r>
              <a:rPr lang="en-US" sz="2400" b="1" spc="55"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misdiagnosis</a:t>
            </a:r>
            <a:r>
              <a:rPr lang="en-US" sz="2400" dirty="0">
                <a:solidFill>
                  <a:srgbClr val="111111"/>
                </a:solidFill>
                <a:effectLst/>
                <a:latin typeface="Calibri" panose="020F0502020204030204" pitchFamily="34" charset="0"/>
                <a:ea typeface="Calibri" panose="020F0502020204030204" pitchFamily="34" charset="0"/>
              </a:rPr>
              <a:t>.</a:t>
            </a:r>
            <a:r>
              <a:rPr lang="en-US" sz="2400" spc="370" dirty="0">
                <a:solidFill>
                  <a:srgbClr val="111111"/>
                </a:solidFill>
                <a:effectLst/>
                <a:latin typeface="Calibri" panose="020F0502020204030204" pitchFamily="34" charset="0"/>
                <a:ea typeface="Calibri" panose="020F0502020204030204" pitchFamily="34" charset="0"/>
              </a:rPr>
              <a:t> </a:t>
            </a:r>
            <a:r>
              <a:rPr lang="en-US" sz="2400" b="1" dirty="0">
                <a:effectLst/>
                <a:latin typeface="Calibri" panose="020F0502020204030204" pitchFamily="34" charset="0"/>
                <a:ea typeface="Calibri" panose="020F0502020204030204" pitchFamily="34" charset="0"/>
              </a:rPr>
              <a:t>Medi</a:t>
            </a:r>
            <a:r>
              <a:rPr lang="en-US" sz="2400" b="1" spc="80" dirty="0">
                <a:effectLst/>
                <a:latin typeface="Calibri" panose="020F0502020204030204" pitchFamily="34" charset="0"/>
                <a:ea typeface="Calibri" panose="020F0502020204030204" pitchFamily="34" charset="0"/>
              </a:rPr>
              <a:t> </a:t>
            </a:r>
            <a:r>
              <a:rPr lang="en-US" sz="2400" b="1" dirty="0">
                <a:effectLst/>
                <a:latin typeface="Calibri" panose="020F0502020204030204" pitchFamily="34" charset="0"/>
                <a:ea typeface="Calibri" panose="020F0502020204030204" pitchFamily="34" charset="0"/>
              </a:rPr>
              <a:t>bot</a:t>
            </a:r>
            <a:r>
              <a:rPr lang="en-US" sz="2400" b="1" spc="7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relies</a:t>
            </a:r>
            <a:r>
              <a:rPr lang="en-US" sz="2400" spc="15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on</a:t>
            </a:r>
            <a:r>
              <a:rPr lang="en-US" sz="2400" spc="15"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algorithms</a:t>
            </a:r>
            <a:r>
              <a:rPr lang="en-US" sz="2400" spc="80" dirty="0">
                <a:effectLst/>
                <a:latin typeface="Calibri" panose="020F0502020204030204" pitchFamily="34" charset="0"/>
                <a:ea typeface="Calibri" panose="020F0502020204030204" pitchFamily="34" charset="0"/>
              </a:rPr>
              <a:t> </a:t>
            </a:r>
            <a:r>
              <a:rPr lang="en-US" sz="2400" spc="-25" dirty="0">
                <a:effectLst/>
                <a:latin typeface="Calibri" panose="020F0502020204030204" pitchFamily="34" charset="0"/>
                <a:ea typeface="Calibri" panose="020F0502020204030204" pitchFamily="34" charset="0"/>
              </a:rPr>
              <a:t>to</a:t>
            </a:r>
            <a:endParaRPr lang="en-IN" sz="1600" dirty="0">
              <a:effectLst/>
              <a:latin typeface="Calibri" panose="020F0502020204030204" pitchFamily="34" charset="0"/>
              <a:ea typeface="Calibri" panose="020F0502020204030204" pitchFamily="34" charset="0"/>
            </a:endParaRPr>
          </a:p>
          <a:p>
            <a:pPr marL="91440">
              <a:lnSpc>
                <a:spcPts val="1810"/>
              </a:lnSpc>
            </a:pPr>
            <a:r>
              <a:rPr lang="en-IN" sz="1600" dirty="0">
                <a:latin typeface="Calibri" panose="020F0502020204030204" pitchFamily="34" charset="0"/>
                <a:ea typeface="Calibri" panose="020F0502020204030204" pitchFamily="34" charset="0"/>
              </a:rPr>
              <a:t>   </a:t>
            </a:r>
          </a:p>
          <a:p>
            <a:pPr marL="91440">
              <a:lnSpc>
                <a:spcPts val="1810"/>
              </a:lnSpc>
            </a:pPr>
            <a:r>
              <a:rPr lang="en-US" sz="2400" dirty="0">
                <a:effectLst/>
                <a:latin typeface="Calibri" panose="020F0502020204030204" pitchFamily="34" charset="0"/>
                <a:ea typeface="Calibri" panose="020F0502020204030204" pitchFamily="34" charset="0"/>
              </a:rPr>
              <a:t>diagnose</a:t>
            </a:r>
            <a:r>
              <a:rPr lang="en-US" sz="2400" spc="105"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medical</a:t>
            </a:r>
            <a:r>
              <a:rPr lang="en-US" sz="2400" spc="15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conditions,</a:t>
            </a:r>
            <a:r>
              <a:rPr lang="en-US" sz="2400" spc="12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which</a:t>
            </a:r>
            <a:r>
              <a:rPr lang="en-US" sz="2400" spc="14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may</a:t>
            </a:r>
            <a:r>
              <a:rPr lang="en-US" sz="2400" spc="15"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not</a:t>
            </a:r>
            <a:r>
              <a:rPr lang="en-US" sz="2400" spc="13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always</a:t>
            </a:r>
            <a:r>
              <a:rPr lang="en-US" sz="2400" spc="4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be</a:t>
            </a:r>
            <a:r>
              <a:rPr lang="en-US" sz="2400" spc="105" dirty="0">
                <a:effectLst/>
                <a:latin typeface="Calibri" panose="020F0502020204030204" pitchFamily="34" charset="0"/>
                <a:ea typeface="Calibri" panose="020F0502020204030204" pitchFamily="34" charset="0"/>
              </a:rPr>
              <a:t> </a:t>
            </a:r>
            <a:r>
              <a:rPr lang="en-US" sz="2400" spc="-10" dirty="0">
                <a:effectLst/>
                <a:latin typeface="Calibri" panose="020F0502020204030204" pitchFamily="34" charset="0"/>
                <a:ea typeface="Calibri" panose="020F0502020204030204" pitchFamily="34" charset="0"/>
              </a:rPr>
              <a:t>accurate</a:t>
            </a:r>
            <a:r>
              <a:rPr lang="en-US" sz="2400" spc="-10" dirty="0">
                <a:solidFill>
                  <a:srgbClr val="111111"/>
                </a:solidFill>
                <a:effectLst/>
                <a:latin typeface="Calibri" panose="020F0502020204030204" pitchFamily="34" charset="0"/>
                <a:ea typeface="Calibri" panose="020F0502020204030204" pitchFamily="34" charset="0"/>
              </a:rPr>
              <a:t>.</a:t>
            </a:r>
            <a:endParaRPr lang="en-IN" sz="2400" dirty="0">
              <a:effectLst/>
              <a:latin typeface="Calibri" panose="020F0502020204030204" pitchFamily="34" charset="0"/>
              <a:ea typeface="Calibri" panose="020F0502020204030204" pitchFamily="34" charset="0"/>
            </a:endParaRPr>
          </a:p>
          <a:p>
            <a:pPr marL="91440" marR="367030">
              <a:lnSpc>
                <a:spcPct val="90000"/>
              </a:lnSpc>
              <a:spcBef>
                <a:spcPts val="1170"/>
              </a:spcBef>
              <a:spcAft>
                <a:spcPts val="0"/>
              </a:spcAft>
            </a:pPr>
            <a:r>
              <a:rPr lang="en-US" sz="2400" b="1" dirty="0">
                <a:effectLst/>
                <a:latin typeface="Calibri" panose="020F0502020204030204" pitchFamily="34" charset="0"/>
                <a:ea typeface="Calibri" panose="020F0502020204030204" pitchFamily="34" charset="0"/>
              </a:rPr>
              <a:t>.</a:t>
            </a:r>
            <a:r>
              <a:rPr lang="en-US" sz="2400" b="1" spc="-5"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This can lead to incorrect</a:t>
            </a:r>
            <a:r>
              <a:rPr lang="en-US" sz="2400" spc="20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diagnoses</a:t>
            </a:r>
            <a:r>
              <a:rPr lang="en-US" sz="2400" spc="185"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and inappropriate</a:t>
            </a:r>
            <a:r>
              <a:rPr lang="en-US" sz="2400" spc="20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treatment,</a:t>
            </a:r>
            <a:r>
              <a:rPr lang="en-US" sz="2400" spc="20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which can have</a:t>
            </a:r>
            <a:r>
              <a:rPr lang="en-US" sz="2400" spc="16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serious</a:t>
            </a:r>
            <a:r>
              <a:rPr lang="en-US" sz="2400" spc="18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consequences for patients</a:t>
            </a:r>
            <a:r>
              <a:rPr lang="en-US" sz="2400" dirty="0">
                <a:solidFill>
                  <a:srgbClr val="111111"/>
                </a:solidFill>
                <a:effectLst/>
                <a:latin typeface="Calibri" panose="020F0502020204030204" pitchFamily="34" charset="0"/>
                <a:ea typeface="Calibri" panose="020F0502020204030204" pitchFamily="34" charset="0"/>
              </a:rPr>
              <a:t>.</a:t>
            </a:r>
            <a:endParaRPr lang="en-IN" sz="2400" dirty="0">
              <a:effectLst/>
              <a:latin typeface="Calibri" panose="020F0502020204030204" pitchFamily="34" charset="0"/>
              <a:ea typeface="Calibri" panose="020F0502020204030204" pitchFamily="34" charset="0"/>
            </a:endParaRPr>
          </a:p>
          <a:p>
            <a:pPr marL="91440">
              <a:spcBef>
                <a:spcPts val="1085"/>
              </a:spcBef>
              <a:spcAft>
                <a:spcPts val="0"/>
              </a:spcAft>
            </a:pPr>
            <a:r>
              <a:rPr lang="en-US" sz="2400" b="1" dirty="0">
                <a:solidFill>
                  <a:srgbClr val="111111"/>
                </a:solidFill>
                <a:effectLst/>
                <a:latin typeface="Calibri" panose="020F0502020204030204" pitchFamily="34" charset="0"/>
                <a:ea typeface="Calibri" panose="020F0502020204030204" pitchFamily="34" charset="0"/>
              </a:rPr>
              <a:t>.</a:t>
            </a:r>
            <a:r>
              <a:rPr lang="en-US" sz="2400" b="1" spc="-3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In</a:t>
            </a:r>
            <a:r>
              <a:rPr lang="en-US" sz="2400" spc="8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addition,</a:t>
            </a:r>
            <a:r>
              <a:rPr lang="en-US" sz="2400" spc="6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5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use</a:t>
            </a:r>
            <a:r>
              <a:rPr lang="en-US" sz="2400" spc="5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of</a:t>
            </a:r>
            <a:r>
              <a:rPr lang="en-US" sz="2400" spc="-1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AI</a:t>
            </a:r>
            <a:r>
              <a:rPr lang="en-US" sz="2400" spc="6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in</a:t>
            </a:r>
            <a:r>
              <a:rPr lang="en-US" sz="2400" spc="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healthcare</a:t>
            </a:r>
            <a:r>
              <a:rPr lang="en-US" sz="2400" spc="12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raises</a:t>
            </a:r>
            <a:r>
              <a:rPr lang="en-US" sz="2400" spc="14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concerns</a:t>
            </a:r>
            <a:r>
              <a:rPr lang="en-US" sz="2400" spc="14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about</a:t>
            </a:r>
            <a:r>
              <a:rPr lang="en-US" sz="2400" spc="70"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data</a:t>
            </a:r>
            <a:r>
              <a:rPr lang="en-US" sz="2400" b="1" spc="130"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privacy</a:t>
            </a:r>
            <a:r>
              <a:rPr lang="en-US" sz="2400" b="1" spc="160"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and</a:t>
            </a:r>
            <a:r>
              <a:rPr lang="en-US" sz="2400" b="1" spc="65" dirty="0">
                <a:solidFill>
                  <a:srgbClr val="111111"/>
                </a:solidFill>
                <a:effectLst/>
                <a:latin typeface="Calibri" panose="020F0502020204030204" pitchFamily="34" charset="0"/>
                <a:ea typeface="Calibri" panose="020F0502020204030204" pitchFamily="34" charset="0"/>
              </a:rPr>
              <a:t> </a:t>
            </a:r>
            <a:r>
              <a:rPr lang="en-US" sz="2400" b="1" spc="-10" dirty="0">
                <a:solidFill>
                  <a:srgbClr val="111111"/>
                </a:solidFill>
                <a:effectLst/>
                <a:latin typeface="Calibri" panose="020F0502020204030204" pitchFamily="34" charset="0"/>
                <a:ea typeface="Calibri" panose="020F0502020204030204" pitchFamily="34" charset="0"/>
              </a:rPr>
              <a:t>security</a:t>
            </a:r>
            <a:r>
              <a:rPr lang="en-US" sz="2400" spc="-10" dirty="0">
                <a:solidFill>
                  <a:srgbClr val="111111"/>
                </a:solidFill>
                <a:effectLst/>
                <a:latin typeface="Calibri" panose="020F0502020204030204" pitchFamily="34" charset="0"/>
                <a:ea typeface="Calibri" panose="020F0502020204030204" pitchFamily="34" charset="0"/>
              </a:rPr>
              <a:t>.</a:t>
            </a:r>
            <a:endParaRPr lang="en-IN" sz="1600" dirty="0">
              <a:effectLst/>
              <a:latin typeface="Calibri" panose="020F0502020204030204" pitchFamily="34" charset="0"/>
              <a:ea typeface="Calibri" panose="020F0502020204030204" pitchFamily="34" charset="0"/>
            </a:endParaRPr>
          </a:p>
          <a:p>
            <a:pPr marL="91440">
              <a:lnSpc>
                <a:spcPct val="90000"/>
              </a:lnSpc>
              <a:spcBef>
                <a:spcPts val="1165"/>
              </a:spcBef>
              <a:spcAft>
                <a:spcPts val="0"/>
              </a:spcAft>
            </a:pPr>
            <a:r>
              <a:rPr lang="en-US" sz="2400" b="1" dirty="0">
                <a:effectLst/>
                <a:latin typeface="Calibri" panose="020F0502020204030204" pitchFamily="34" charset="0"/>
                <a:ea typeface="Calibri" panose="020F0502020204030204" pitchFamily="34" charset="0"/>
              </a:rPr>
              <a:t>. Medi bot </a:t>
            </a:r>
            <a:r>
              <a:rPr lang="en-US" sz="2400" dirty="0">
                <a:effectLst/>
                <a:latin typeface="Calibri" panose="020F0502020204030204" pitchFamily="34" charset="0"/>
                <a:ea typeface="Calibri" panose="020F0502020204030204" pitchFamily="34" charset="0"/>
              </a:rPr>
              <a:t>collects sensitive</a:t>
            </a:r>
            <a:r>
              <a:rPr lang="en-US" sz="2400" spc="20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medical information</a:t>
            </a:r>
            <a:r>
              <a:rPr lang="en-US" sz="2400" spc="20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from</a:t>
            </a:r>
            <a:r>
              <a:rPr lang="en-US" sz="2400" spc="14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patients,</a:t>
            </a:r>
            <a:r>
              <a:rPr lang="en-US" sz="2400" spc="19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which</a:t>
            </a:r>
            <a:r>
              <a:rPr lang="en-US" sz="2400" spc="125"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must be protected</a:t>
            </a:r>
            <a:r>
              <a:rPr lang="en-US" sz="2400" spc="20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from</a:t>
            </a:r>
            <a:r>
              <a:rPr lang="en-US" sz="2400" spc="20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unauthorized access and misuse</a:t>
            </a:r>
            <a:r>
              <a:rPr lang="en-US" sz="2400" dirty="0">
                <a:solidFill>
                  <a:srgbClr val="111111"/>
                </a:solidFill>
                <a:effectLst/>
                <a:latin typeface="Calibri" panose="020F0502020204030204" pitchFamily="34" charset="0"/>
                <a:ea typeface="Calibri" panose="020F0502020204030204" pitchFamily="34" charset="0"/>
              </a:rPr>
              <a:t>.</a:t>
            </a:r>
            <a:endParaRPr lang="en-IN" sz="2400" dirty="0">
              <a:effectLst/>
              <a:latin typeface="Calibri" panose="020F0502020204030204" pitchFamily="34" charset="0"/>
              <a:ea typeface="Calibri" panose="020F0502020204030204" pitchFamily="34" charset="0"/>
            </a:endParaRPr>
          </a:p>
          <a:p>
            <a:pPr marL="91440">
              <a:spcBef>
                <a:spcPts val="1085"/>
              </a:spcBef>
              <a:spcAft>
                <a:spcPts val="0"/>
              </a:spcAft>
            </a:pPr>
            <a:r>
              <a:rPr lang="en-US" sz="2400" b="1" dirty="0">
                <a:solidFill>
                  <a:srgbClr val="111111"/>
                </a:solidFill>
                <a:effectLst/>
                <a:latin typeface="Calibri" panose="020F0502020204030204" pitchFamily="34" charset="0"/>
                <a:ea typeface="Calibri" panose="020F0502020204030204" pitchFamily="34" charset="0"/>
              </a:rPr>
              <a:t>.</a:t>
            </a:r>
            <a:r>
              <a:rPr lang="en-US" sz="2400" b="1" spc="-2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Finally,</a:t>
            </a:r>
            <a:r>
              <a:rPr lang="en-US" sz="2400" spc="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the</a:t>
            </a:r>
            <a:r>
              <a:rPr lang="en-US" sz="2400" spc="6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use</a:t>
            </a:r>
            <a:r>
              <a:rPr lang="en-US" sz="2400" spc="6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of</a:t>
            </a:r>
            <a:r>
              <a:rPr lang="en-US" sz="2400" spc="-1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AI</a:t>
            </a:r>
            <a:r>
              <a:rPr lang="en-US" sz="2400" spc="7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in</a:t>
            </a:r>
            <a:r>
              <a:rPr lang="en-US" sz="2400" spc="1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healthcare</a:t>
            </a:r>
            <a:r>
              <a:rPr lang="en-US" sz="2400" spc="13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raises</a:t>
            </a:r>
            <a:r>
              <a:rPr lang="en-US" sz="2400" spc="15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ethical</a:t>
            </a:r>
            <a:r>
              <a:rPr lang="en-US" sz="2400" spc="3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concerns</a:t>
            </a:r>
            <a:r>
              <a:rPr lang="en-US" sz="2400" spc="15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about</a:t>
            </a:r>
            <a:r>
              <a:rPr lang="en-US" sz="2400" spc="170"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bias</a:t>
            </a:r>
            <a:r>
              <a:rPr lang="en-US" sz="2400" b="1" spc="135" dirty="0">
                <a:solidFill>
                  <a:srgbClr val="111111"/>
                </a:solidFill>
                <a:effectLst/>
                <a:latin typeface="Calibri" panose="020F0502020204030204" pitchFamily="34" charset="0"/>
                <a:ea typeface="Calibri" panose="020F0502020204030204" pitchFamily="34" charset="0"/>
              </a:rPr>
              <a:t> </a:t>
            </a:r>
            <a:r>
              <a:rPr lang="en-US" sz="2400" b="1" dirty="0">
                <a:solidFill>
                  <a:srgbClr val="111111"/>
                </a:solidFill>
                <a:effectLst/>
                <a:latin typeface="Calibri" panose="020F0502020204030204" pitchFamily="34" charset="0"/>
                <a:ea typeface="Calibri" panose="020F0502020204030204" pitchFamily="34" charset="0"/>
              </a:rPr>
              <a:t>and</a:t>
            </a:r>
            <a:r>
              <a:rPr lang="en-US" sz="2400" b="1" spc="75" dirty="0">
                <a:solidFill>
                  <a:srgbClr val="111111"/>
                </a:solidFill>
                <a:effectLst/>
                <a:latin typeface="Calibri" panose="020F0502020204030204" pitchFamily="34" charset="0"/>
                <a:ea typeface="Calibri" panose="020F0502020204030204" pitchFamily="34" charset="0"/>
              </a:rPr>
              <a:t> </a:t>
            </a:r>
            <a:r>
              <a:rPr lang="en-US" sz="2400" b="1" spc="-10" dirty="0">
                <a:solidFill>
                  <a:srgbClr val="111111"/>
                </a:solidFill>
                <a:effectLst/>
                <a:latin typeface="Calibri" panose="020F0502020204030204" pitchFamily="34" charset="0"/>
                <a:ea typeface="Calibri" panose="020F0502020204030204" pitchFamily="34" charset="0"/>
              </a:rPr>
              <a:t>discrimination</a:t>
            </a:r>
            <a:r>
              <a:rPr lang="en-US" sz="2400" spc="-10" dirty="0">
                <a:solidFill>
                  <a:srgbClr val="111111"/>
                </a:solidFill>
                <a:effectLst/>
                <a:latin typeface="Calibri" panose="020F0502020204030204" pitchFamily="34" charset="0"/>
                <a:ea typeface="Calibri" panose="020F0502020204030204" pitchFamily="34" charset="0"/>
              </a:rPr>
              <a:t>.</a:t>
            </a:r>
            <a:endParaRPr lang="en-IN" sz="1600" dirty="0">
              <a:effectLst/>
              <a:latin typeface="Calibri" panose="020F0502020204030204" pitchFamily="34" charset="0"/>
              <a:ea typeface="Calibri" panose="020F0502020204030204" pitchFamily="34" charset="0"/>
            </a:endParaRPr>
          </a:p>
          <a:p>
            <a:pPr marL="91440">
              <a:lnSpc>
                <a:spcPts val="1745"/>
              </a:lnSpc>
              <a:spcBef>
                <a:spcPts val="1035"/>
              </a:spcBef>
              <a:spcAft>
                <a:spcPts val="0"/>
              </a:spcAft>
            </a:pPr>
            <a:r>
              <a:rPr lang="en-US" sz="2400" b="1" dirty="0">
                <a:solidFill>
                  <a:srgbClr val="111111"/>
                </a:solidFill>
                <a:effectLst/>
                <a:latin typeface="Calibri" panose="020F0502020204030204" pitchFamily="34" charset="0"/>
                <a:ea typeface="Calibri" panose="020F0502020204030204" pitchFamily="34" charset="0"/>
              </a:rPr>
              <a:t>.</a:t>
            </a:r>
            <a:r>
              <a:rPr lang="en-US" sz="2400" b="1" spc="-2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AI</a:t>
            </a:r>
            <a:r>
              <a:rPr lang="en-US" sz="2400" spc="8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algorithms</a:t>
            </a:r>
            <a:r>
              <a:rPr lang="en-US" sz="2400" spc="8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may</a:t>
            </a:r>
            <a:r>
              <a:rPr lang="en-US" sz="2400" spc="6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be</a:t>
            </a:r>
            <a:r>
              <a:rPr lang="en-US" sz="2400" spc="-2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biased</a:t>
            </a:r>
            <a:r>
              <a:rPr lang="en-US" sz="2400" spc="17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against</a:t>
            </a:r>
            <a:r>
              <a:rPr lang="en-US" sz="2400" spc="2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certain</a:t>
            </a:r>
            <a:r>
              <a:rPr lang="en-US" sz="2400" spc="17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groups</a:t>
            </a:r>
            <a:r>
              <a:rPr lang="en-US" sz="2400" spc="8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of</a:t>
            </a:r>
            <a:r>
              <a:rPr lang="en-US" sz="2400" spc="6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people,</a:t>
            </a:r>
            <a:r>
              <a:rPr lang="en-US" sz="2400" spc="16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such</a:t>
            </a:r>
            <a:r>
              <a:rPr lang="en-US" sz="2400" spc="2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as</a:t>
            </a:r>
            <a:r>
              <a:rPr lang="en-US" sz="2400" spc="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people</a:t>
            </a:r>
            <a:r>
              <a:rPr lang="en-US" sz="2400" spc="140"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of</a:t>
            </a:r>
            <a:r>
              <a:rPr lang="en-US" sz="2400" spc="6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color</a:t>
            </a:r>
            <a:r>
              <a:rPr lang="en-US" sz="2400" spc="7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or</a:t>
            </a:r>
            <a:r>
              <a:rPr lang="en-US" sz="2400" spc="-5" dirty="0">
                <a:solidFill>
                  <a:srgbClr val="111111"/>
                </a:solidFill>
                <a:effectLst/>
                <a:latin typeface="Calibri" panose="020F0502020204030204" pitchFamily="34" charset="0"/>
                <a:ea typeface="Calibri" panose="020F0502020204030204" pitchFamily="34" charset="0"/>
              </a:rPr>
              <a:t> </a:t>
            </a:r>
            <a:r>
              <a:rPr lang="en-US" sz="2400" dirty="0">
                <a:solidFill>
                  <a:srgbClr val="111111"/>
                </a:solidFill>
                <a:effectLst/>
                <a:latin typeface="Calibri" panose="020F0502020204030204" pitchFamily="34" charset="0"/>
                <a:ea typeface="Calibri" panose="020F0502020204030204" pitchFamily="34" charset="0"/>
              </a:rPr>
              <a:t>people</a:t>
            </a:r>
            <a:r>
              <a:rPr lang="en-US" sz="2400" spc="140" dirty="0">
                <a:solidFill>
                  <a:srgbClr val="111111"/>
                </a:solidFill>
                <a:effectLst/>
                <a:latin typeface="Calibri" panose="020F0502020204030204" pitchFamily="34" charset="0"/>
                <a:ea typeface="Calibri" panose="020F0502020204030204" pitchFamily="34" charset="0"/>
              </a:rPr>
              <a:t> </a:t>
            </a:r>
            <a:r>
              <a:rPr lang="en-US" sz="2400" spc="-20" dirty="0">
                <a:solidFill>
                  <a:srgbClr val="111111"/>
                </a:solidFill>
                <a:effectLst/>
                <a:latin typeface="Calibri" panose="020F0502020204030204" pitchFamily="34" charset="0"/>
                <a:ea typeface="Calibri" panose="020F0502020204030204" pitchFamily="34" charset="0"/>
              </a:rPr>
              <a:t>with</a:t>
            </a:r>
          </a:p>
          <a:p>
            <a:r>
              <a:rPr lang="en-IN" sz="2400" dirty="0">
                <a:latin typeface="Calibri" panose="020F0502020204030204" pitchFamily="34" charset="0"/>
                <a:ea typeface="Calibri" panose="020F0502020204030204" pitchFamily="34" charset="0"/>
              </a:rPr>
              <a:t>  disabilities, which can lead to disparities in healthcare outcomes.</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id="{35107683-97BF-7E1C-9E16-B336F0C215B5}"/>
              </a:ext>
            </a:extLst>
          </p:cNvPr>
          <p:cNvGrpSpPr/>
          <p:nvPr/>
        </p:nvGrpSpPr>
        <p:grpSpPr>
          <a:xfrm>
            <a:off x="15905747" y="524063"/>
            <a:ext cx="1703553" cy="1791325"/>
            <a:chOff x="0" y="0"/>
            <a:chExt cx="1123950" cy="1123950"/>
          </a:xfrm>
        </p:grpSpPr>
        <p:pic>
          <p:nvPicPr>
            <p:cNvPr id="7" name="Picture 6">
              <a:extLst>
                <a:ext uri="{FF2B5EF4-FFF2-40B4-BE49-F238E27FC236}">
                  <a16:creationId xmlns:a16="http://schemas.microsoft.com/office/drawing/2014/main" id="{4F9E7DD7-A5AB-29CF-F914-651AFC2EC919}"/>
                </a:ext>
              </a:extLst>
            </p:cNvPr>
            <p:cNvPicPr/>
            <p:nvPr/>
          </p:nvPicPr>
          <p:blipFill>
            <a:blip r:embed="rId2"/>
            <a:stretch>
              <a:fillRect/>
            </a:stretch>
          </p:blipFill>
          <p:spPr>
            <a:xfrm>
              <a:off x="0" y="0"/>
              <a:ext cx="1123950" cy="1123950"/>
            </a:xfrm>
            <a:prstGeom prst="rect">
              <a:avLst/>
            </a:prstGeom>
          </p:spPr>
        </p:pic>
      </p:grpSp>
    </p:spTree>
    <p:extLst>
      <p:ext uri="{BB962C8B-B14F-4D97-AF65-F5344CB8AC3E}">
        <p14:creationId xmlns:p14="http://schemas.microsoft.com/office/powerpoint/2010/main" val="3788679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p:cNvSpPr>
            <a:spLocks noGrp="1"/>
          </p:cNvSpPr>
          <p:nvPr>
            <p:ph type="ftr" sz="quarter" idx="11"/>
          </p:nvPr>
        </p:nvSpPr>
        <p:spPr>
          <a:xfrm>
            <a:off x="4630994" y="9689678"/>
            <a:ext cx="9173496" cy="547688"/>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DEPARTMENT OF</a:t>
            </a:r>
            <a:r>
              <a:rPr lang="en-IN" sz="1400" b="1" dirty="0">
                <a:latin typeface="Calibri" panose="020F0502020204030204" pitchFamily="34" charset="0"/>
                <a:ea typeface="Calibri" panose="020F0502020204030204" pitchFamily="34" charset="0"/>
                <a:cs typeface="Calibri" panose="020F0502020204030204" pitchFamily="34" charset="0"/>
              </a:rPr>
              <a:t> COMPUTER OF SCIENCE &amp; ENGINEERING</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a:t>/ deployment of </a:t>
            </a:r>
            <a:r>
              <a:rPr lang="en-IN" dirty="0" err="1"/>
              <a:t>medibot</a:t>
            </a:r>
            <a:r>
              <a:rPr lang="en-IN" dirty="0"/>
              <a:t> in healthcare</a:t>
            </a:r>
          </a:p>
          <a:p>
            <a:endParaRPr lang="en-IN"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a:p>
        </p:txBody>
      </p:sp>
      <p:sp>
        <p:nvSpPr>
          <p:cNvPr id="8" name="Rectangle 7"/>
          <p:cNvSpPr/>
          <p:nvPr/>
        </p:nvSpPr>
        <p:spPr>
          <a:xfrm>
            <a:off x="5529278" y="444547"/>
            <a:ext cx="7347396" cy="1323439"/>
          </a:xfrm>
          <a:prstGeom prst="rect">
            <a:avLst/>
          </a:prstGeom>
        </p:spPr>
        <p:txBody>
          <a:bodyPr wrap="none">
            <a:spAutoFit/>
          </a:bodyPr>
          <a:lstStyle/>
          <a:p>
            <a:r>
              <a:rPr lang="en-IN" sz="4000" b="1" dirty="0">
                <a:latin typeface="Times New Roman" pitchFamily="18" charset="0"/>
                <a:cs typeface="Times New Roman" pitchFamily="18" charset="0"/>
              </a:rPr>
              <a:t>TIMELINE OF THE PROJECT</a:t>
            </a:r>
          </a:p>
          <a:p>
            <a:pPr algn="ctr"/>
            <a:r>
              <a:rPr lang="en-IN" sz="4000" b="1" dirty="0">
                <a:latin typeface="Times New Roman" pitchFamily="18" charset="0"/>
                <a:cs typeface="Times New Roman" pitchFamily="18" charset="0"/>
              </a:rPr>
              <a:t>GANTT CHART</a:t>
            </a:r>
            <a:endParaRPr lang="en-IN" sz="4000" dirty="0"/>
          </a:p>
        </p:txBody>
      </p:sp>
      <p:graphicFrame>
        <p:nvGraphicFramePr>
          <p:cNvPr id="7" name="Table 6">
            <a:extLst>
              <a:ext uri="{FF2B5EF4-FFF2-40B4-BE49-F238E27FC236}">
                <a16:creationId xmlns:a16="http://schemas.microsoft.com/office/drawing/2014/main" id="{B79025D3-29BF-E190-4EEA-DF0C2AF7FDAA}"/>
              </a:ext>
            </a:extLst>
          </p:cNvPr>
          <p:cNvGraphicFramePr>
            <a:graphicFrameLocks noGrp="1"/>
          </p:cNvGraphicFramePr>
          <p:nvPr>
            <p:extLst>
              <p:ext uri="{D42A27DB-BD31-4B8C-83A1-F6EECF244321}">
                <p14:modId xmlns:p14="http://schemas.microsoft.com/office/powerpoint/2010/main" val="2479831755"/>
              </p:ext>
            </p:extLst>
          </p:nvPr>
        </p:nvGraphicFramePr>
        <p:xfrm>
          <a:off x="1460090" y="2256504"/>
          <a:ext cx="15662784" cy="6801785"/>
        </p:xfrm>
        <a:graphic>
          <a:graphicData uri="http://schemas.openxmlformats.org/drawingml/2006/table">
            <a:tbl>
              <a:tblPr firstRow="1" bandRow="1">
                <a:tableStyleId>{7DF18680-E054-41AD-8BC1-D1AEF772440D}</a:tableStyleId>
              </a:tblPr>
              <a:tblGrid>
                <a:gridCol w="2374491">
                  <a:extLst>
                    <a:ext uri="{9D8B030D-6E8A-4147-A177-3AD203B41FA5}">
                      <a16:colId xmlns:a16="http://schemas.microsoft.com/office/drawing/2014/main" val="521293078"/>
                    </a:ext>
                  </a:extLst>
                </a:gridCol>
                <a:gridCol w="2846437">
                  <a:extLst>
                    <a:ext uri="{9D8B030D-6E8A-4147-A177-3AD203B41FA5}">
                      <a16:colId xmlns:a16="http://schemas.microsoft.com/office/drawing/2014/main" val="1923137406"/>
                    </a:ext>
                  </a:extLst>
                </a:gridCol>
                <a:gridCol w="2610464">
                  <a:extLst>
                    <a:ext uri="{9D8B030D-6E8A-4147-A177-3AD203B41FA5}">
                      <a16:colId xmlns:a16="http://schemas.microsoft.com/office/drawing/2014/main" val="3112309665"/>
                    </a:ext>
                  </a:extLst>
                </a:gridCol>
                <a:gridCol w="2610464">
                  <a:extLst>
                    <a:ext uri="{9D8B030D-6E8A-4147-A177-3AD203B41FA5}">
                      <a16:colId xmlns:a16="http://schemas.microsoft.com/office/drawing/2014/main" val="2337268890"/>
                    </a:ext>
                  </a:extLst>
                </a:gridCol>
                <a:gridCol w="2610464">
                  <a:extLst>
                    <a:ext uri="{9D8B030D-6E8A-4147-A177-3AD203B41FA5}">
                      <a16:colId xmlns:a16="http://schemas.microsoft.com/office/drawing/2014/main" val="2382146681"/>
                    </a:ext>
                  </a:extLst>
                </a:gridCol>
                <a:gridCol w="2610464">
                  <a:extLst>
                    <a:ext uri="{9D8B030D-6E8A-4147-A177-3AD203B41FA5}">
                      <a16:colId xmlns:a16="http://schemas.microsoft.com/office/drawing/2014/main" val="987297226"/>
                    </a:ext>
                  </a:extLst>
                </a:gridCol>
              </a:tblGrid>
              <a:tr h="829857">
                <a:tc>
                  <a:txBody>
                    <a:bodyPr/>
                    <a:lstStyle/>
                    <a:p>
                      <a:pPr algn="ctr"/>
                      <a:r>
                        <a:rPr lang="en-US" dirty="0"/>
                        <a:t>TASK NAME</a:t>
                      </a:r>
                      <a:endParaRPr lang="en-IN" dirty="0"/>
                    </a:p>
                  </a:txBody>
                  <a:tcPr>
                    <a:solidFill>
                      <a:schemeClr val="tx2"/>
                    </a:solidFill>
                  </a:tcPr>
                </a:tc>
                <a:tc>
                  <a:txBody>
                    <a:bodyPr/>
                    <a:lstStyle/>
                    <a:p>
                      <a:pPr algn="ctr"/>
                      <a:r>
                        <a:rPr lang="en-US" dirty="0"/>
                        <a:t>DEC 2024</a:t>
                      </a:r>
                      <a:endParaRPr lang="en-IN" dirty="0"/>
                    </a:p>
                  </a:txBody>
                  <a:tcPr>
                    <a:solidFill>
                      <a:schemeClr val="tx2"/>
                    </a:solidFill>
                  </a:tcPr>
                </a:tc>
                <a:tc>
                  <a:txBody>
                    <a:bodyPr/>
                    <a:lstStyle/>
                    <a:p>
                      <a:pPr algn="ctr"/>
                      <a:r>
                        <a:rPr lang="en-US" dirty="0"/>
                        <a:t>JAN 2025</a:t>
                      </a:r>
                      <a:endParaRPr lang="en-IN" dirty="0"/>
                    </a:p>
                  </a:txBody>
                  <a:tcPr>
                    <a:solidFill>
                      <a:schemeClr val="tx2"/>
                    </a:solidFill>
                  </a:tcPr>
                </a:tc>
                <a:tc>
                  <a:txBody>
                    <a:bodyPr/>
                    <a:lstStyle/>
                    <a:p>
                      <a:pPr algn="ctr"/>
                      <a:r>
                        <a:rPr lang="en-US" dirty="0"/>
                        <a:t>FEB 2025</a:t>
                      </a:r>
                      <a:endParaRPr lang="en-IN" dirty="0"/>
                    </a:p>
                  </a:txBody>
                  <a:tcPr>
                    <a:solidFill>
                      <a:schemeClr val="tx2"/>
                    </a:solidFill>
                  </a:tcPr>
                </a:tc>
                <a:tc>
                  <a:txBody>
                    <a:bodyPr/>
                    <a:lstStyle/>
                    <a:p>
                      <a:pPr algn="ctr"/>
                      <a:r>
                        <a:rPr lang="en-US" dirty="0"/>
                        <a:t>MARCH 2025</a:t>
                      </a:r>
                      <a:endParaRPr lang="en-IN" dirty="0"/>
                    </a:p>
                  </a:txBody>
                  <a:tcPr>
                    <a:solidFill>
                      <a:schemeClr val="tx2"/>
                    </a:solidFill>
                  </a:tcPr>
                </a:tc>
                <a:tc>
                  <a:txBody>
                    <a:bodyPr/>
                    <a:lstStyle/>
                    <a:p>
                      <a:pPr algn="ctr"/>
                      <a:r>
                        <a:rPr lang="en-US" dirty="0"/>
                        <a:t>APRIL 2025</a:t>
                      </a:r>
                      <a:endParaRPr lang="en-IN" dirty="0"/>
                    </a:p>
                  </a:txBody>
                  <a:tcPr>
                    <a:solidFill>
                      <a:schemeClr val="tx2"/>
                    </a:solidFill>
                  </a:tcPr>
                </a:tc>
                <a:extLst>
                  <a:ext uri="{0D108BD9-81ED-4DB2-BD59-A6C34878D82A}">
                    <a16:rowId xmlns:a16="http://schemas.microsoft.com/office/drawing/2014/main" val="69329218"/>
                  </a:ext>
                </a:extLst>
              </a:tr>
              <a:tr h="1159138">
                <a:tc>
                  <a:txBody>
                    <a:bodyPr/>
                    <a:lstStyle/>
                    <a:p>
                      <a:pPr algn="just"/>
                      <a:r>
                        <a:rPr lang="en-US" dirty="0"/>
                        <a:t>PLANNING</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37055173"/>
                  </a:ext>
                </a:extLst>
              </a:tr>
              <a:tr h="1159138">
                <a:tc>
                  <a:txBody>
                    <a:bodyPr/>
                    <a:lstStyle/>
                    <a:p>
                      <a:pPr algn="just"/>
                      <a:r>
                        <a:rPr lang="en-US" dirty="0"/>
                        <a:t>RESEARCH</a:t>
                      </a:r>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491213375"/>
                  </a:ext>
                </a:extLst>
              </a:tr>
              <a:tr h="1335376">
                <a:tc>
                  <a:txBody>
                    <a:bodyPr/>
                    <a:lstStyle/>
                    <a:p>
                      <a:pPr algn="just"/>
                      <a:r>
                        <a:rPr lang="en-US" dirty="0"/>
                        <a:t>DESIGN</a:t>
                      </a:r>
                      <a:endParaRPr lang="en-IN" dirty="0"/>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61127846"/>
                  </a:ext>
                </a:extLst>
              </a:tr>
              <a:tr h="1159138">
                <a:tc>
                  <a:txBody>
                    <a:bodyPr/>
                    <a:lstStyle/>
                    <a:p>
                      <a:pPr algn="just"/>
                      <a:r>
                        <a:rPr lang="en-US" dirty="0"/>
                        <a:t>DEVELOPMENT</a:t>
                      </a:r>
                      <a:endParaRPr lang="en-IN" dirty="0"/>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2147872176"/>
                  </a:ext>
                </a:extLst>
              </a:tr>
              <a:tr h="1159138">
                <a:tc>
                  <a:txBody>
                    <a:bodyPr/>
                    <a:lstStyle/>
                    <a:p>
                      <a:pPr algn="just"/>
                      <a:r>
                        <a:rPr lang="en-US" dirty="0"/>
                        <a:t>TESTING</a:t>
                      </a:r>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314331532"/>
                  </a:ext>
                </a:extLst>
              </a:tr>
            </a:tbl>
          </a:graphicData>
        </a:graphic>
      </p:graphicFrame>
      <p:sp>
        <p:nvSpPr>
          <p:cNvPr id="11" name="Arrow: Right 10">
            <a:extLst>
              <a:ext uri="{FF2B5EF4-FFF2-40B4-BE49-F238E27FC236}">
                <a16:creationId xmlns:a16="http://schemas.microsoft.com/office/drawing/2014/main" id="{32B4858E-BAF6-F678-33D5-E2DA94A14DF8}"/>
              </a:ext>
            </a:extLst>
          </p:cNvPr>
          <p:cNvSpPr/>
          <p:nvPr/>
        </p:nvSpPr>
        <p:spPr>
          <a:xfrm>
            <a:off x="4114800" y="3350751"/>
            <a:ext cx="4911212" cy="678425"/>
          </a:xfrm>
          <a:prstGeom prst="rightArrow">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D9ADE881-DFD1-BA67-52E1-C2AE58F68A6E}"/>
              </a:ext>
            </a:extLst>
          </p:cNvPr>
          <p:cNvSpPr/>
          <p:nvPr/>
        </p:nvSpPr>
        <p:spPr>
          <a:xfrm>
            <a:off x="6835876" y="4517694"/>
            <a:ext cx="4911212" cy="678425"/>
          </a:xfrm>
          <a:prstGeom prst="rightArrow">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Right 12">
            <a:extLst>
              <a:ext uri="{FF2B5EF4-FFF2-40B4-BE49-F238E27FC236}">
                <a16:creationId xmlns:a16="http://schemas.microsoft.com/office/drawing/2014/main" id="{BB2DE226-CB6F-EE8F-2B35-50B9CFDBF99D}"/>
              </a:ext>
            </a:extLst>
          </p:cNvPr>
          <p:cNvSpPr/>
          <p:nvPr/>
        </p:nvSpPr>
        <p:spPr>
          <a:xfrm>
            <a:off x="9512710" y="5684637"/>
            <a:ext cx="4911212" cy="678425"/>
          </a:xfrm>
          <a:prstGeom prst="rightArrow">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26FFEA20-3EFB-9436-1DAC-D87E7C899CD1}"/>
              </a:ext>
            </a:extLst>
          </p:cNvPr>
          <p:cNvSpPr/>
          <p:nvPr/>
        </p:nvSpPr>
        <p:spPr>
          <a:xfrm>
            <a:off x="11992752" y="8169650"/>
            <a:ext cx="4911212" cy="678425"/>
          </a:xfrm>
          <a:prstGeom prst="rightArrow">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73623DF4-C662-9CB3-2B45-020E09FF1874}"/>
              </a:ext>
            </a:extLst>
          </p:cNvPr>
          <p:cNvSpPr/>
          <p:nvPr/>
        </p:nvSpPr>
        <p:spPr>
          <a:xfrm>
            <a:off x="11968316" y="6994451"/>
            <a:ext cx="3635478" cy="678425"/>
          </a:xfrm>
          <a:prstGeom prst="rightArrow">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id="{A67C56EE-031C-2E5C-D902-67D164A9CADE}"/>
              </a:ext>
            </a:extLst>
          </p:cNvPr>
          <p:cNvGrpSpPr/>
          <p:nvPr/>
        </p:nvGrpSpPr>
        <p:grpSpPr>
          <a:xfrm>
            <a:off x="15905747" y="524063"/>
            <a:ext cx="1703553" cy="1791325"/>
            <a:chOff x="0" y="0"/>
            <a:chExt cx="1123950" cy="1123950"/>
          </a:xfrm>
        </p:grpSpPr>
        <p:pic>
          <p:nvPicPr>
            <p:cNvPr id="6" name="Picture 5">
              <a:extLst>
                <a:ext uri="{FF2B5EF4-FFF2-40B4-BE49-F238E27FC236}">
                  <a16:creationId xmlns:a16="http://schemas.microsoft.com/office/drawing/2014/main" id="{FC6C676C-88F3-E71B-EACD-53E29DF96C53}"/>
                </a:ext>
              </a:extLst>
            </p:cNvPr>
            <p:cNvPicPr/>
            <p:nvPr/>
          </p:nvPicPr>
          <p:blipFill>
            <a:blip r:embed="rId3"/>
            <a:stretch>
              <a:fillRect/>
            </a:stretch>
          </p:blipFill>
          <p:spPr>
            <a:xfrm>
              <a:off x="0" y="0"/>
              <a:ext cx="1123950" cy="1123950"/>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832D80-BF58-CE66-D60D-C814D531939A}"/>
              </a:ext>
            </a:extLst>
          </p:cNvPr>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a:extLst>
              <a:ext uri="{FF2B5EF4-FFF2-40B4-BE49-F238E27FC236}">
                <a16:creationId xmlns:a16="http://schemas.microsoft.com/office/drawing/2014/main" id="{6D04C7B4-C268-90E8-1810-644CABB3AF1F}"/>
              </a:ext>
            </a:extLst>
          </p:cNvPr>
          <p:cNvSpPr>
            <a:spLocks noGrp="1"/>
          </p:cNvSpPr>
          <p:nvPr>
            <p:ph type="ftr" sz="quarter" idx="11"/>
          </p:nvPr>
        </p:nvSpPr>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DEPARTMENT OF</a:t>
            </a:r>
            <a:r>
              <a:rPr lang="en-IN" sz="1400" b="1" dirty="0">
                <a:latin typeface="Calibri" panose="020F0502020204030204" pitchFamily="34" charset="0"/>
                <a:ea typeface="Calibri" panose="020F0502020204030204" pitchFamily="34" charset="0"/>
                <a:cs typeface="Calibri" panose="020F0502020204030204" pitchFamily="34" charset="0"/>
              </a:rPr>
              <a:t> COMPUTER OF SCIENCE &amp; ENGINEERING</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a:t>/ deployment of </a:t>
            </a:r>
            <a:r>
              <a:rPr lang="en-IN" dirty="0" err="1"/>
              <a:t>medibot</a:t>
            </a:r>
            <a:r>
              <a:rPr lang="en-IN" dirty="0"/>
              <a:t> in healthcare</a:t>
            </a:r>
          </a:p>
          <a:p>
            <a:endParaRPr lang="en-IN" dirty="0"/>
          </a:p>
        </p:txBody>
      </p:sp>
      <p:sp>
        <p:nvSpPr>
          <p:cNvPr id="4" name="Slide Number Placeholder 3">
            <a:extLst>
              <a:ext uri="{FF2B5EF4-FFF2-40B4-BE49-F238E27FC236}">
                <a16:creationId xmlns:a16="http://schemas.microsoft.com/office/drawing/2014/main" id="{195CFEFE-005A-F8C5-8521-2C8740FA652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a:p>
        </p:txBody>
      </p:sp>
      <p:pic>
        <p:nvPicPr>
          <p:cNvPr id="5" name="Picture 4">
            <a:extLst>
              <a:ext uri="{FF2B5EF4-FFF2-40B4-BE49-F238E27FC236}">
                <a16:creationId xmlns:a16="http://schemas.microsoft.com/office/drawing/2014/main" id="{00510FCD-4845-7762-5E49-C625E2FADFF4}"/>
              </a:ext>
            </a:extLst>
          </p:cNvPr>
          <p:cNvPicPr/>
          <p:nvPr/>
        </p:nvPicPr>
        <p:blipFill>
          <a:blip r:embed="rId2"/>
          <a:stretch>
            <a:fillRect/>
          </a:stretch>
        </p:blipFill>
        <p:spPr>
          <a:xfrm>
            <a:off x="2009658" y="2619625"/>
            <a:ext cx="8409690" cy="6861259"/>
          </a:xfrm>
          <a:prstGeom prst="rect">
            <a:avLst/>
          </a:prstGeom>
        </p:spPr>
      </p:pic>
      <p:sp>
        <p:nvSpPr>
          <p:cNvPr id="7" name="TextBox 6">
            <a:extLst>
              <a:ext uri="{FF2B5EF4-FFF2-40B4-BE49-F238E27FC236}">
                <a16:creationId xmlns:a16="http://schemas.microsoft.com/office/drawing/2014/main" id="{0680957D-A3C4-B0C3-B5E6-79D8B6EADD68}"/>
              </a:ext>
            </a:extLst>
          </p:cNvPr>
          <p:cNvSpPr txBox="1"/>
          <p:nvPr/>
        </p:nvSpPr>
        <p:spPr>
          <a:xfrm>
            <a:off x="2009657" y="1887267"/>
            <a:ext cx="9144000" cy="817340"/>
          </a:xfrm>
          <a:prstGeom prst="rect">
            <a:avLst/>
          </a:prstGeom>
          <a:noFill/>
        </p:spPr>
        <p:txBody>
          <a:bodyPr wrap="square">
            <a:spAutoFit/>
          </a:bodyPr>
          <a:lstStyle/>
          <a:p>
            <a:pPr marL="464185" marR="2178685" indent="-6350">
              <a:lnSpc>
                <a:spcPct val="131000"/>
              </a:lnSpc>
              <a:spcAft>
                <a:spcPts val="6670"/>
              </a:spcAft>
            </a:pPr>
            <a:r>
              <a:rPr lang="en-IN" sz="4000" b="1" kern="100" dirty="0">
                <a:solidFill>
                  <a:srgbClr val="000000"/>
                </a:solidFill>
                <a:effectLst/>
                <a:latin typeface="Times New Roman" panose="02020603050405020304" pitchFamily="18" charset="0"/>
                <a:ea typeface="Times New Roman" panose="02020603050405020304" pitchFamily="18" charset="0"/>
              </a:rPr>
              <a:t>SURVEY ANALYSIS</a:t>
            </a:r>
          </a:p>
        </p:txBody>
      </p:sp>
      <p:grpSp>
        <p:nvGrpSpPr>
          <p:cNvPr id="8" name="Group 7">
            <a:extLst>
              <a:ext uri="{FF2B5EF4-FFF2-40B4-BE49-F238E27FC236}">
                <a16:creationId xmlns:a16="http://schemas.microsoft.com/office/drawing/2014/main" id="{1A0E28B1-3518-0138-195C-ED1CF542A2EC}"/>
              </a:ext>
            </a:extLst>
          </p:cNvPr>
          <p:cNvGrpSpPr/>
          <p:nvPr/>
        </p:nvGrpSpPr>
        <p:grpSpPr>
          <a:xfrm>
            <a:off x="15608468" y="763317"/>
            <a:ext cx="1968038" cy="1856308"/>
            <a:chOff x="0" y="0"/>
            <a:chExt cx="1123950" cy="1123950"/>
          </a:xfrm>
        </p:grpSpPr>
        <p:pic>
          <p:nvPicPr>
            <p:cNvPr id="9" name="Picture 8">
              <a:extLst>
                <a:ext uri="{FF2B5EF4-FFF2-40B4-BE49-F238E27FC236}">
                  <a16:creationId xmlns:a16="http://schemas.microsoft.com/office/drawing/2014/main" id="{5F47DA24-4A4D-09DD-0E6B-821DD1948396}"/>
                </a:ext>
              </a:extLst>
            </p:cNvPr>
            <p:cNvPicPr/>
            <p:nvPr/>
          </p:nvPicPr>
          <p:blipFill>
            <a:blip r:embed="rId3"/>
            <a:stretch>
              <a:fillRect/>
            </a:stretch>
          </p:blipFill>
          <p:spPr>
            <a:xfrm>
              <a:off x="0" y="0"/>
              <a:ext cx="1123950" cy="1123950"/>
            </a:xfrm>
            <a:prstGeom prst="rect">
              <a:avLst/>
            </a:prstGeom>
          </p:spPr>
        </p:pic>
      </p:grpSp>
      <p:pic>
        <p:nvPicPr>
          <p:cNvPr id="10" name="Picture 9">
            <a:extLst>
              <a:ext uri="{FF2B5EF4-FFF2-40B4-BE49-F238E27FC236}">
                <a16:creationId xmlns:a16="http://schemas.microsoft.com/office/drawing/2014/main" id="{5BE52EC3-F6A5-35DE-FA2D-F4797234DDA8}"/>
              </a:ext>
            </a:extLst>
          </p:cNvPr>
          <p:cNvPicPr/>
          <p:nvPr/>
        </p:nvPicPr>
        <p:blipFill>
          <a:blip r:embed="rId4"/>
          <a:stretch>
            <a:fillRect/>
          </a:stretch>
        </p:blipFill>
        <p:spPr>
          <a:xfrm>
            <a:off x="9697452" y="2704607"/>
            <a:ext cx="8229601" cy="6680025"/>
          </a:xfrm>
          <a:prstGeom prst="rect">
            <a:avLst/>
          </a:prstGeom>
        </p:spPr>
      </p:pic>
    </p:spTree>
    <p:extLst>
      <p:ext uri="{BB962C8B-B14F-4D97-AF65-F5344CB8AC3E}">
        <p14:creationId xmlns:p14="http://schemas.microsoft.com/office/powerpoint/2010/main" val="2358193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3369EF-85A2-21EE-513E-BD980A826C6F}"/>
              </a:ext>
            </a:extLst>
          </p:cNvPr>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a:extLst>
              <a:ext uri="{FF2B5EF4-FFF2-40B4-BE49-F238E27FC236}">
                <a16:creationId xmlns:a16="http://schemas.microsoft.com/office/drawing/2014/main" id="{EF3327BD-8DC5-7BE2-CA11-86AF92307DB6}"/>
              </a:ext>
            </a:extLst>
          </p:cNvPr>
          <p:cNvSpPr>
            <a:spLocks noGrp="1"/>
          </p:cNvSpPr>
          <p:nvPr>
            <p:ph type="ftr" sz="quarter" idx="11"/>
          </p:nvPr>
        </p:nvSpPr>
        <p:spPr>
          <a:xfrm>
            <a:off x="5529278" y="9689678"/>
            <a:ext cx="8042342" cy="597322"/>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DEPARTMENT OF</a:t>
            </a:r>
            <a:r>
              <a:rPr lang="en-IN" sz="1400" b="1" dirty="0">
                <a:latin typeface="Calibri" panose="020F0502020204030204" pitchFamily="34" charset="0"/>
                <a:ea typeface="Calibri" panose="020F0502020204030204" pitchFamily="34" charset="0"/>
                <a:cs typeface="Calibri" panose="020F0502020204030204" pitchFamily="34" charset="0"/>
              </a:rPr>
              <a:t> COMPUTER OF SCIENCE &amp; ENGINEERING</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a:t>/ deployment of </a:t>
            </a:r>
            <a:r>
              <a:rPr lang="en-IN" dirty="0" err="1"/>
              <a:t>medibot</a:t>
            </a:r>
            <a:r>
              <a:rPr lang="en-IN" dirty="0"/>
              <a:t> in healthcare</a:t>
            </a:r>
          </a:p>
          <a:p>
            <a:endParaRPr lang="en-IN" dirty="0"/>
          </a:p>
        </p:txBody>
      </p:sp>
      <p:sp>
        <p:nvSpPr>
          <p:cNvPr id="4" name="Slide Number Placeholder 3">
            <a:extLst>
              <a:ext uri="{FF2B5EF4-FFF2-40B4-BE49-F238E27FC236}">
                <a16:creationId xmlns:a16="http://schemas.microsoft.com/office/drawing/2014/main" id="{6374BB79-BEF0-09A1-7F6E-5300EF6D43E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8</a:t>
            </a:fld>
            <a:endParaRPr lang="en-US"/>
          </a:p>
        </p:txBody>
      </p:sp>
      <p:pic>
        <p:nvPicPr>
          <p:cNvPr id="5" name="Picture 4">
            <a:extLst>
              <a:ext uri="{FF2B5EF4-FFF2-40B4-BE49-F238E27FC236}">
                <a16:creationId xmlns:a16="http://schemas.microsoft.com/office/drawing/2014/main" id="{52282B94-B33D-9303-D7F3-CB3EC30B89D2}"/>
              </a:ext>
            </a:extLst>
          </p:cNvPr>
          <p:cNvPicPr/>
          <p:nvPr/>
        </p:nvPicPr>
        <p:blipFill>
          <a:blip r:embed="rId2"/>
          <a:stretch>
            <a:fillRect/>
          </a:stretch>
        </p:blipFill>
        <p:spPr>
          <a:xfrm>
            <a:off x="-24063" y="2481242"/>
            <a:ext cx="9841832" cy="6783073"/>
          </a:xfrm>
          <a:prstGeom prst="rect">
            <a:avLst/>
          </a:prstGeom>
        </p:spPr>
      </p:pic>
      <p:sp>
        <p:nvSpPr>
          <p:cNvPr id="7" name="TextBox 6">
            <a:extLst>
              <a:ext uri="{FF2B5EF4-FFF2-40B4-BE49-F238E27FC236}">
                <a16:creationId xmlns:a16="http://schemas.microsoft.com/office/drawing/2014/main" id="{EA197DF5-3614-7EAF-F8E3-6F3887932DF7}"/>
              </a:ext>
            </a:extLst>
          </p:cNvPr>
          <p:cNvSpPr txBox="1"/>
          <p:nvPr/>
        </p:nvSpPr>
        <p:spPr>
          <a:xfrm>
            <a:off x="938463" y="944479"/>
            <a:ext cx="12633157" cy="718466"/>
          </a:xfrm>
          <a:prstGeom prst="rect">
            <a:avLst/>
          </a:prstGeom>
          <a:noFill/>
        </p:spPr>
        <p:txBody>
          <a:bodyPr wrap="square">
            <a:spAutoFit/>
          </a:bodyPr>
          <a:lstStyle/>
          <a:p>
            <a:pPr>
              <a:lnSpc>
                <a:spcPct val="107000"/>
              </a:lnSpc>
              <a:spcAft>
                <a:spcPts val="800"/>
              </a:spcAft>
            </a:pPr>
            <a:r>
              <a:rPr lang="en-IN" sz="4000" b="1" kern="100">
                <a:solidFill>
                  <a:srgbClr val="000000"/>
                </a:solidFill>
                <a:effectLst/>
                <a:latin typeface="Times New Roman" panose="02020603050405020304" pitchFamily="18" charset="0"/>
                <a:ea typeface="Times New Roman" panose="02020603050405020304" pitchFamily="18" charset="0"/>
              </a:rPr>
              <a:t>SURVEY ANALYSIS</a:t>
            </a:r>
            <a:endParaRPr lang="en-IN" sz="4000" kern="100">
              <a:solidFill>
                <a:srgbClr val="000000"/>
              </a:solidFill>
              <a:effectLst/>
              <a:latin typeface="Calibri" panose="020F0502020204030204" pitchFamily="34" charset="0"/>
              <a:ea typeface="Calibri" panose="020F0502020204030204" pitchFamily="34" charset="0"/>
            </a:endParaRPr>
          </a:p>
        </p:txBody>
      </p:sp>
      <p:grpSp>
        <p:nvGrpSpPr>
          <p:cNvPr id="8" name="Group 7">
            <a:extLst>
              <a:ext uri="{FF2B5EF4-FFF2-40B4-BE49-F238E27FC236}">
                <a16:creationId xmlns:a16="http://schemas.microsoft.com/office/drawing/2014/main" id="{E2DF8105-0878-EF19-E905-B891926E1CAD}"/>
              </a:ext>
            </a:extLst>
          </p:cNvPr>
          <p:cNvGrpSpPr/>
          <p:nvPr/>
        </p:nvGrpSpPr>
        <p:grpSpPr>
          <a:xfrm>
            <a:off x="15905747" y="524063"/>
            <a:ext cx="1703553" cy="1791325"/>
            <a:chOff x="0" y="0"/>
            <a:chExt cx="1123950" cy="1123950"/>
          </a:xfrm>
        </p:grpSpPr>
        <p:pic>
          <p:nvPicPr>
            <p:cNvPr id="9" name="Picture 8">
              <a:extLst>
                <a:ext uri="{FF2B5EF4-FFF2-40B4-BE49-F238E27FC236}">
                  <a16:creationId xmlns:a16="http://schemas.microsoft.com/office/drawing/2014/main" id="{428EF697-1F35-B47F-5381-5F810A0C47D8}"/>
                </a:ext>
              </a:extLst>
            </p:cNvPr>
            <p:cNvPicPr/>
            <p:nvPr/>
          </p:nvPicPr>
          <p:blipFill>
            <a:blip r:embed="rId3"/>
            <a:stretch>
              <a:fillRect/>
            </a:stretch>
          </p:blipFill>
          <p:spPr>
            <a:xfrm>
              <a:off x="0" y="0"/>
              <a:ext cx="1123950" cy="1123950"/>
            </a:xfrm>
            <a:prstGeom prst="rect">
              <a:avLst/>
            </a:prstGeom>
          </p:spPr>
        </p:pic>
      </p:grpSp>
      <p:pic>
        <p:nvPicPr>
          <p:cNvPr id="10" name="Picture 9">
            <a:extLst>
              <a:ext uri="{FF2B5EF4-FFF2-40B4-BE49-F238E27FC236}">
                <a16:creationId xmlns:a16="http://schemas.microsoft.com/office/drawing/2014/main" id="{BFC721A7-B987-210A-E09F-3CD82B8F150C}"/>
              </a:ext>
            </a:extLst>
          </p:cNvPr>
          <p:cNvPicPr/>
          <p:nvPr/>
        </p:nvPicPr>
        <p:blipFill>
          <a:blip r:embed="rId4"/>
          <a:stretch>
            <a:fillRect/>
          </a:stretch>
        </p:blipFill>
        <p:spPr>
          <a:xfrm>
            <a:off x="9360568" y="2481243"/>
            <a:ext cx="8229600" cy="6734946"/>
          </a:xfrm>
          <a:prstGeom prst="rect">
            <a:avLst/>
          </a:prstGeom>
        </p:spPr>
      </p:pic>
    </p:spTree>
    <p:extLst>
      <p:ext uri="{BB962C8B-B14F-4D97-AF65-F5344CB8AC3E}">
        <p14:creationId xmlns:p14="http://schemas.microsoft.com/office/powerpoint/2010/main" val="3657274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C07FD0-C8DE-7087-D2F3-D8B06AC0C2E2}"/>
              </a:ext>
            </a:extLst>
          </p:cNvPr>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a:extLst>
              <a:ext uri="{FF2B5EF4-FFF2-40B4-BE49-F238E27FC236}">
                <a16:creationId xmlns:a16="http://schemas.microsoft.com/office/drawing/2014/main" id="{F36D80A6-2CF4-95B4-DED9-74C5D5A1557B}"/>
              </a:ext>
            </a:extLst>
          </p:cNvPr>
          <p:cNvSpPr>
            <a:spLocks noGrp="1"/>
          </p:cNvSpPr>
          <p:nvPr>
            <p:ph type="ftr" sz="quarter" idx="11"/>
          </p:nvPr>
        </p:nvSpPr>
        <p:spPr>
          <a:xfrm>
            <a:off x="5529277" y="9689678"/>
            <a:ext cx="8162659" cy="547688"/>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DEPARTMENT OF</a:t>
            </a:r>
            <a:r>
              <a:rPr lang="en-IN" sz="1400" b="1" dirty="0">
                <a:latin typeface="Calibri" panose="020F0502020204030204" pitchFamily="34" charset="0"/>
                <a:ea typeface="Calibri" panose="020F0502020204030204" pitchFamily="34" charset="0"/>
                <a:cs typeface="Calibri" panose="020F0502020204030204" pitchFamily="34" charset="0"/>
              </a:rPr>
              <a:t> COMPUTER OF SCIENCE &amp; ENGINEERING</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a:t>/ deployment of </a:t>
            </a:r>
            <a:r>
              <a:rPr lang="en-IN" dirty="0" err="1"/>
              <a:t>medibot</a:t>
            </a:r>
            <a:r>
              <a:rPr lang="en-IN" dirty="0"/>
              <a:t> in healthcare</a:t>
            </a:r>
          </a:p>
          <a:p>
            <a:endParaRPr lang="en-IN" dirty="0"/>
          </a:p>
        </p:txBody>
      </p:sp>
      <p:sp>
        <p:nvSpPr>
          <p:cNvPr id="4" name="Slide Number Placeholder 3">
            <a:extLst>
              <a:ext uri="{FF2B5EF4-FFF2-40B4-BE49-F238E27FC236}">
                <a16:creationId xmlns:a16="http://schemas.microsoft.com/office/drawing/2014/main" id="{39E0ACE8-D417-99B0-83FE-8B8B38BB092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a:p>
        </p:txBody>
      </p:sp>
      <p:pic>
        <p:nvPicPr>
          <p:cNvPr id="5" name="Picture 4">
            <a:extLst>
              <a:ext uri="{FF2B5EF4-FFF2-40B4-BE49-F238E27FC236}">
                <a16:creationId xmlns:a16="http://schemas.microsoft.com/office/drawing/2014/main" id="{AE2DA6ED-A6BB-8C16-1238-613A4CD37F34}"/>
              </a:ext>
            </a:extLst>
          </p:cNvPr>
          <p:cNvPicPr/>
          <p:nvPr/>
        </p:nvPicPr>
        <p:blipFill>
          <a:blip r:embed="rId2"/>
          <a:stretch>
            <a:fillRect/>
          </a:stretch>
        </p:blipFill>
        <p:spPr>
          <a:xfrm>
            <a:off x="697832" y="1973180"/>
            <a:ext cx="7988968" cy="7146757"/>
          </a:xfrm>
          <a:prstGeom prst="rect">
            <a:avLst/>
          </a:prstGeom>
        </p:spPr>
      </p:pic>
      <p:grpSp>
        <p:nvGrpSpPr>
          <p:cNvPr id="6" name="Group 5">
            <a:extLst>
              <a:ext uri="{FF2B5EF4-FFF2-40B4-BE49-F238E27FC236}">
                <a16:creationId xmlns:a16="http://schemas.microsoft.com/office/drawing/2014/main" id="{267DC16E-9FA7-8DF1-1370-E5CFE0A5C986}"/>
              </a:ext>
            </a:extLst>
          </p:cNvPr>
          <p:cNvGrpSpPr/>
          <p:nvPr/>
        </p:nvGrpSpPr>
        <p:grpSpPr>
          <a:xfrm>
            <a:off x="16272336" y="217949"/>
            <a:ext cx="1703553" cy="1791325"/>
            <a:chOff x="0" y="0"/>
            <a:chExt cx="1123950" cy="1123950"/>
          </a:xfrm>
        </p:grpSpPr>
        <p:pic>
          <p:nvPicPr>
            <p:cNvPr id="7" name="Picture 6">
              <a:extLst>
                <a:ext uri="{FF2B5EF4-FFF2-40B4-BE49-F238E27FC236}">
                  <a16:creationId xmlns:a16="http://schemas.microsoft.com/office/drawing/2014/main" id="{5B71BBD0-65F8-6F05-B896-4C406436A289}"/>
                </a:ext>
              </a:extLst>
            </p:cNvPr>
            <p:cNvPicPr/>
            <p:nvPr/>
          </p:nvPicPr>
          <p:blipFill>
            <a:blip r:embed="rId3"/>
            <a:stretch>
              <a:fillRect/>
            </a:stretch>
          </p:blipFill>
          <p:spPr>
            <a:xfrm>
              <a:off x="0" y="0"/>
              <a:ext cx="1123950" cy="1123950"/>
            </a:xfrm>
            <a:prstGeom prst="rect">
              <a:avLst/>
            </a:prstGeom>
          </p:spPr>
        </p:pic>
      </p:grpSp>
      <p:pic>
        <p:nvPicPr>
          <p:cNvPr id="8" name="Picture 7">
            <a:extLst>
              <a:ext uri="{FF2B5EF4-FFF2-40B4-BE49-F238E27FC236}">
                <a16:creationId xmlns:a16="http://schemas.microsoft.com/office/drawing/2014/main" id="{607D7108-1E64-1688-A97B-1BD17F5E43FA}"/>
              </a:ext>
            </a:extLst>
          </p:cNvPr>
          <p:cNvPicPr/>
          <p:nvPr/>
        </p:nvPicPr>
        <p:blipFill>
          <a:blip r:embed="rId4"/>
          <a:stretch>
            <a:fillRect/>
          </a:stretch>
        </p:blipFill>
        <p:spPr>
          <a:xfrm>
            <a:off x="8686800" y="1973180"/>
            <a:ext cx="8903368" cy="7243009"/>
          </a:xfrm>
          <a:prstGeom prst="rect">
            <a:avLst/>
          </a:prstGeom>
        </p:spPr>
      </p:pic>
      <p:pic>
        <p:nvPicPr>
          <p:cNvPr id="9" name="Picture 8">
            <a:extLst>
              <a:ext uri="{FF2B5EF4-FFF2-40B4-BE49-F238E27FC236}">
                <a16:creationId xmlns:a16="http://schemas.microsoft.com/office/drawing/2014/main" id="{FD0DFA95-F22C-1B17-0AD4-9ED20F7660DA}"/>
              </a:ext>
            </a:extLst>
          </p:cNvPr>
          <p:cNvPicPr/>
          <p:nvPr/>
        </p:nvPicPr>
        <p:blipFill>
          <a:blip r:embed="rId5"/>
          <a:stretch>
            <a:fillRect/>
          </a:stretch>
        </p:blipFill>
        <p:spPr>
          <a:xfrm>
            <a:off x="8686800" y="1973181"/>
            <a:ext cx="8131926" cy="6809872"/>
          </a:xfrm>
          <a:prstGeom prst="rect">
            <a:avLst/>
          </a:prstGeom>
        </p:spPr>
      </p:pic>
    </p:spTree>
    <p:extLst>
      <p:ext uri="{BB962C8B-B14F-4D97-AF65-F5344CB8AC3E}">
        <p14:creationId xmlns:p14="http://schemas.microsoft.com/office/powerpoint/2010/main" val="3449200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BC94E-5E29-D55F-6E93-21A1815C9164}"/>
              </a:ext>
            </a:extLst>
          </p:cNvPr>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a:extLst>
              <a:ext uri="{FF2B5EF4-FFF2-40B4-BE49-F238E27FC236}">
                <a16:creationId xmlns:a16="http://schemas.microsoft.com/office/drawing/2014/main" id="{85BB849C-83D6-AF8A-8321-3BE15F414F47}"/>
              </a:ext>
            </a:extLst>
          </p:cNvPr>
          <p:cNvSpPr>
            <a:spLocks noGrp="1"/>
          </p:cNvSpPr>
          <p:nvPr>
            <p:ph type="ftr" sz="quarter" idx="11"/>
          </p:nvPr>
        </p:nvSpPr>
        <p:spPr>
          <a:xfrm>
            <a:off x="5529277" y="9689678"/>
            <a:ext cx="7753585" cy="547688"/>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DEPARTMENT OF</a:t>
            </a:r>
            <a:r>
              <a:rPr lang="en-IN" sz="1400" b="1" dirty="0">
                <a:latin typeface="Calibri" panose="020F0502020204030204" pitchFamily="34" charset="0"/>
                <a:ea typeface="Calibri" panose="020F0502020204030204" pitchFamily="34" charset="0"/>
                <a:cs typeface="Calibri" panose="020F0502020204030204" pitchFamily="34" charset="0"/>
              </a:rPr>
              <a:t> COMPUTER OF SCIENCE &amp; ENGINEERING</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a:t>/ deployment of </a:t>
            </a:r>
            <a:r>
              <a:rPr lang="en-IN" dirty="0" err="1"/>
              <a:t>medibot</a:t>
            </a:r>
            <a:r>
              <a:rPr lang="en-IN" dirty="0"/>
              <a:t> in healthcare</a:t>
            </a:r>
          </a:p>
          <a:p>
            <a:endParaRPr lang="en-IN" dirty="0"/>
          </a:p>
        </p:txBody>
      </p:sp>
      <p:sp>
        <p:nvSpPr>
          <p:cNvPr id="4" name="Slide Number Placeholder 3">
            <a:extLst>
              <a:ext uri="{FF2B5EF4-FFF2-40B4-BE49-F238E27FC236}">
                <a16:creationId xmlns:a16="http://schemas.microsoft.com/office/drawing/2014/main" id="{BB157ECE-7165-F925-57FA-BE70BB7F9C7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10</a:t>
            </a:fld>
            <a:endParaRPr lang="en-US"/>
          </a:p>
        </p:txBody>
      </p:sp>
      <p:grpSp>
        <p:nvGrpSpPr>
          <p:cNvPr id="6" name="Group 5">
            <a:extLst>
              <a:ext uri="{FF2B5EF4-FFF2-40B4-BE49-F238E27FC236}">
                <a16:creationId xmlns:a16="http://schemas.microsoft.com/office/drawing/2014/main" id="{643D0BC5-ECBD-EB4E-607E-DDAFE7EA79D5}"/>
              </a:ext>
            </a:extLst>
          </p:cNvPr>
          <p:cNvGrpSpPr/>
          <p:nvPr/>
        </p:nvGrpSpPr>
        <p:grpSpPr>
          <a:xfrm>
            <a:off x="16184939" y="49634"/>
            <a:ext cx="1703553" cy="1791325"/>
            <a:chOff x="0" y="0"/>
            <a:chExt cx="1123950" cy="1123950"/>
          </a:xfrm>
        </p:grpSpPr>
        <p:pic>
          <p:nvPicPr>
            <p:cNvPr id="7" name="Picture 6">
              <a:extLst>
                <a:ext uri="{FF2B5EF4-FFF2-40B4-BE49-F238E27FC236}">
                  <a16:creationId xmlns:a16="http://schemas.microsoft.com/office/drawing/2014/main" id="{870386D6-669E-FC47-3978-1E1EC39B2FAC}"/>
                </a:ext>
              </a:extLst>
            </p:cNvPr>
            <p:cNvPicPr/>
            <p:nvPr/>
          </p:nvPicPr>
          <p:blipFill>
            <a:blip r:embed="rId2"/>
            <a:stretch>
              <a:fillRect/>
            </a:stretch>
          </p:blipFill>
          <p:spPr>
            <a:xfrm>
              <a:off x="0" y="0"/>
              <a:ext cx="1123950" cy="1123950"/>
            </a:xfrm>
            <a:prstGeom prst="rect">
              <a:avLst/>
            </a:prstGeom>
          </p:spPr>
        </p:pic>
      </p:grpSp>
      <p:pic>
        <p:nvPicPr>
          <p:cNvPr id="9" name="Picture 8">
            <a:extLst>
              <a:ext uri="{FF2B5EF4-FFF2-40B4-BE49-F238E27FC236}">
                <a16:creationId xmlns:a16="http://schemas.microsoft.com/office/drawing/2014/main" id="{2DBF5D13-3A08-20B2-7225-FF66805D7BE0}"/>
              </a:ext>
            </a:extLst>
          </p:cNvPr>
          <p:cNvPicPr/>
          <p:nvPr/>
        </p:nvPicPr>
        <p:blipFill>
          <a:blip r:embed="rId3"/>
          <a:stretch>
            <a:fillRect/>
          </a:stretch>
        </p:blipFill>
        <p:spPr>
          <a:xfrm>
            <a:off x="240632" y="2147636"/>
            <a:ext cx="8903368" cy="6683544"/>
          </a:xfrm>
          <a:prstGeom prst="rect">
            <a:avLst/>
          </a:prstGeom>
        </p:spPr>
      </p:pic>
      <p:pic>
        <p:nvPicPr>
          <p:cNvPr id="10" name="Picture 9">
            <a:extLst>
              <a:ext uri="{FF2B5EF4-FFF2-40B4-BE49-F238E27FC236}">
                <a16:creationId xmlns:a16="http://schemas.microsoft.com/office/drawing/2014/main" id="{718F2A3F-4F2B-CC56-BFF5-DDE20C8431CE}"/>
              </a:ext>
            </a:extLst>
          </p:cNvPr>
          <p:cNvPicPr/>
          <p:nvPr/>
        </p:nvPicPr>
        <p:blipFill>
          <a:blip r:embed="rId4"/>
          <a:stretch>
            <a:fillRect/>
          </a:stretch>
        </p:blipFill>
        <p:spPr>
          <a:xfrm>
            <a:off x="8686800" y="2147635"/>
            <a:ext cx="8349916" cy="6328611"/>
          </a:xfrm>
          <a:prstGeom prst="rect">
            <a:avLst/>
          </a:prstGeom>
        </p:spPr>
      </p:pic>
    </p:spTree>
    <p:extLst>
      <p:ext uri="{BB962C8B-B14F-4D97-AF65-F5344CB8AC3E}">
        <p14:creationId xmlns:p14="http://schemas.microsoft.com/office/powerpoint/2010/main" val="2326881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5E4717-E045-9FA8-BF8C-16D56359D63E}"/>
              </a:ext>
            </a:extLst>
          </p:cNvPr>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a:extLst>
              <a:ext uri="{FF2B5EF4-FFF2-40B4-BE49-F238E27FC236}">
                <a16:creationId xmlns:a16="http://schemas.microsoft.com/office/drawing/2014/main" id="{60B8AFE6-79B2-23FC-2854-BCD9FD1000E4}"/>
              </a:ext>
            </a:extLst>
          </p:cNvPr>
          <p:cNvSpPr>
            <a:spLocks noGrp="1"/>
          </p:cNvSpPr>
          <p:nvPr>
            <p:ph type="ftr" sz="quarter" idx="11"/>
          </p:nvPr>
        </p:nvSpPr>
        <p:spPr>
          <a:xfrm>
            <a:off x="5529277" y="9689678"/>
            <a:ext cx="8114533" cy="547688"/>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DEPARTMENT OF</a:t>
            </a:r>
            <a:r>
              <a:rPr lang="en-IN" sz="1400" b="1" dirty="0">
                <a:latin typeface="Calibri" panose="020F0502020204030204" pitchFamily="34" charset="0"/>
                <a:ea typeface="Calibri" panose="020F0502020204030204" pitchFamily="34" charset="0"/>
                <a:cs typeface="Calibri" panose="020F0502020204030204" pitchFamily="34" charset="0"/>
              </a:rPr>
              <a:t> COMPUTER OF SCIENCE &amp; ENGINEERING</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a:t>/ deployment of </a:t>
            </a:r>
            <a:r>
              <a:rPr lang="en-IN" dirty="0" err="1"/>
              <a:t>medibot</a:t>
            </a:r>
            <a:r>
              <a:rPr lang="en-IN" dirty="0"/>
              <a:t> in healthcare</a:t>
            </a:r>
          </a:p>
          <a:p>
            <a:endParaRPr lang="en-IN" dirty="0"/>
          </a:p>
        </p:txBody>
      </p:sp>
      <p:sp>
        <p:nvSpPr>
          <p:cNvPr id="4" name="Slide Number Placeholder 3">
            <a:extLst>
              <a:ext uri="{FF2B5EF4-FFF2-40B4-BE49-F238E27FC236}">
                <a16:creationId xmlns:a16="http://schemas.microsoft.com/office/drawing/2014/main" id="{AF08F90B-6001-FAB8-0FBD-AFF4B50F86B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a:p>
        </p:txBody>
      </p:sp>
      <p:grpSp>
        <p:nvGrpSpPr>
          <p:cNvPr id="6" name="Group 5">
            <a:extLst>
              <a:ext uri="{FF2B5EF4-FFF2-40B4-BE49-F238E27FC236}">
                <a16:creationId xmlns:a16="http://schemas.microsoft.com/office/drawing/2014/main" id="{C55D40A6-6317-E967-D1D2-28BD518D2DCA}"/>
              </a:ext>
            </a:extLst>
          </p:cNvPr>
          <p:cNvGrpSpPr/>
          <p:nvPr/>
        </p:nvGrpSpPr>
        <p:grpSpPr>
          <a:xfrm>
            <a:off x="15905747" y="524063"/>
            <a:ext cx="1703553" cy="1791325"/>
            <a:chOff x="0" y="0"/>
            <a:chExt cx="1123950" cy="1123950"/>
          </a:xfrm>
        </p:grpSpPr>
        <p:pic>
          <p:nvPicPr>
            <p:cNvPr id="7" name="Picture 6">
              <a:extLst>
                <a:ext uri="{FF2B5EF4-FFF2-40B4-BE49-F238E27FC236}">
                  <a16:creationId xmlns:a16="http://schemas.microsoft.com/office/drawing/2014/main" id="{293ECA9E-192F-DE9B-DB5E-621AEBE587B5}"/>
                </a:ext>
              </a:extLst>
            </p:cNvPr>
            <p:cNvPicPr/>
            <p:nvPr/>
          </p:nvPicPr>
          <p:blipFill>
            <a:blip r:embed="rId2"/>
            <a:stretch>
              <a:fillRect/>
            </a:stretch>
          </p:blipFill>
          <p:spPr>
            <a:xfrm>
              <a:off x="0" y="0"/>
              <a:ext cx="1123950" cy="1123950"/>
            </a:xfrm>
            <a:prstGeom prst="rect">
              <a:avLst/>
            </a:prstGeom>
          </p:spPr>
        </p:pic>
      </p:grpSp>
      <p:pic>
        <p:nvPicPr>
          <p:cNvPr id="8" name="Picture 7">
            <a:extLst>
              <a:ext uri="{FF2B5EF4-FFF2-40B4-BE49-F238E27FC236}">
                <a16:creationId xmlns:a16="http://schemas.microsoft.com/office/drawing/2014/main" id="{E5D1054C-42D1-BB15-B51C-F832369AB90A}"/>
              </a:ext>
            </a:extLst>
          </p:cNvPr>
          <p:cNvPicPr/>
          <p:nvPr/>
        </p:nvPicPr>
        <p:blipFill>
          <a:blip r:embed="rId3"/>
          <a:stretch>
            <a:fillRect/>
          </a:stretch>
        </p:blipFill>
        <p:spPr>
          <a:xfrm>
            <a:off x="673768" y="2310063"/>
            <a:ext cx="7868653" cy="7098632"/>
          </a:xfrm>
          <a:prstGeom prst="rect">
            <a:avLst/>
          </a:prstGeom>
        </p:spPr>
      </p:pic>
      <p:pic>
        <p:nvPicPr>
          <p:cNvPr id="9" name="Picture 8">
            <a:extLst>
              <a:ext uri="{FF2B5EF4-FFF2-40B4-BE49-F238E27FC236}">
                <a16:creationId xmlns:a16="http://schemas.microsoft.com/office/drawing/2014/main" id="{F4A7B326-15F4-4CC9-AEF0-6FD5F47B35B3}"/>
              </a:ext>
            </a:extLst>
          </p:cNvPr>
          <p:cNvPicPr/>
          <p:nvPr/>
        </p:nvPicPr>
        <p:blipFill>
          <a:blip r:embed="rId4"/>
          <a:stretch>
            <a:fillRect/>
          </a:stretch>
        </p:blipFill>
        <p:spPr>
          <a:xfrm>
            <a:off x="7772400" y="1973179"/>
            <a:ext cx="8566484" cy="7146757"/>
          </a:xfrm>
          <a:prstGeom prst="rect">
            <a:avLst/>
          </a:prstGeom>
        </p:spPr>
      </p:pic>
    </p:spTree>
    <p:extLst>
      <p:ext uri="{BB962C8B-B14F-4D97-AF65-F5344CB8AC3E}">
        <p14:creationId xmlns:p14="http://schemas.microsoft.com/office/powerpoint/2010/main" val="2905818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BAEA1F-B589-246B-752C-9D6B688C57C4}"/>
              </a:ext>
            </a:extLst>
          </p:cNvPr>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a:extLst>
              <a:ext uri="{FF2B5EF4-FFF2-40B4-BE49-F238E27FC236}">
                <a16:creationId xmlns:a16="http://schemas.microsoft.com/office/drawing/2014/main" id="{94C6609D-200C-4194-ED74-7C637F1FAEF9}"/>
              </a:ext>
            </a:extLst>
          </p:cNvPr>
          <p:cNvSpPr>
            <a:spLocks noGrp="1"/>
          </p:cNvSpPr>
          <p:nvPr>
            <p:ph type="ftr" sz="quarter" idx="11"/>
          </p:nvPr>
        </p:nvSpPr>
        <p:spPr>
          <a:xfrm>
            <a:off x="5529277" y="9689678"/>
            <a:ext cx="7922027" cy="597322"/>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DEPARTMENT OF</a:t>
            </a:r>
            <a:r>
              <a:rPr lang="en-IN" sz="1400" b="1" dirty="0">
                <a:latin typeface="Calibri" panose="020F0502020204030204" pitchFamily="34" charset="0"/>
                <a:ea typeface="Calibri" panose="020F0502020204030204" pitchFamily="34" charset="0"/>
                <a:cs typeface="Calibri" panose="020F0502020204030204" pitchFamily="34" charset="0"/>
              </a:rPr>
              <a:t> COMPUTER OF SCIENCE &amp; ENGINEERING</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a:t>/ deployment of </a:t>
            </a:r>
            <a:r>
              <a:rPr lang="en-IN" dirty="0" err="1"/>
              <a:t>medibot</a:t>
            </a:r>
            <a:r>
              <a:rPr lang="en-IN" dirty="0"/>
              <a:t> in healthcare</a:t>
            </a:r>
          </a:p>
          <a:p>
            <a:endParaRPr lang="en-IN" dirty="0"/>
          </a:p>
        </p:txBody>
      </p:sp>
      <p:sp>
        <p:nvSpPr>
          <p:cNvPr id="4" name="Slide Number Placeholder 3">
            <a:extLst>
              <a:ext uri="{FF2B5EF4-FFF2-40B4-BE49-F238E27FC236}">
                <a16:creationId xmlns:a16="http://schemas.microsoft.com/office/drawing/2014/main" id="{7D348C4B-AFB5-B8A6-E865-2CC2B9A9F59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a:p>
        </p:txBody>
      </p:sp>
      <p:pic>
        <p:nvPicPr>
          <p:cNvPr id="5" name="Picture 4">
            <a:extLst>
              <a:ext uri="{FF2B5EF4-FFF2-40B4-BE49-F238E27FC236}">
                <a16:creationId xmlns:a16="http://schemas.microsoft.com/office/drawing/2014/main" id="{1F7DC87B-59E2-BABE-C5E1-029A3EFD059B}"/>
              </a:ext>
            </a:extLst>
          </p:cNvPr>
          <p:cNvPicPr/>
          <p:nvPr/>
        </p:nvPicPr>
        <p:blipFill>
          <a:blip r:embed="rId2"/>
          <a:stretch>
            <a:fillRect/>
          </a:stretch>
        </p:blipFill>
        <p:spPr>
          <a:xfrm>
            <a:off x="601579" y="1852864"/>
            <a:ext cx="6617368" cy="7628020"/>
          </a:xfrm>
          <a:prstGeom prst="rect">
            <a:avLst/>
          </a:prstGeom>
        </p:spPr>
      </p:pic>
      <p:grpSp>
        <p:nvGrpSpPr>
          <p:cNvPr id="6" name="Group 5">
            <a:extLst>
              <a:ext uri="{FF2B5EF4-FFF2-40B4-BE49-F238E27FC236}">
                <a16:creationId xmlns:a16="http://schemas.microsoft.com/office/drawing/2014/main" id="{5E988A17-7DF9-0081-F8F9-9F11F17323CE}"/>
              </a:ext>
            </a:extLst>
          </p:cNvPr>
          <p:cNvGrpSpPr/>
          <p:nvPr/>
        </p:nvGrpSpPr>
        <p:grpSpPr>
          <a:xfrm>
            <a:off x="15905747" y="524063"/>
            <a:ext cx="1703553" cy="1791325"/>
            <a:chOff x="0" y="0"/>
            <a:chExt cx="1123950" cy="1123950"/>
          </a:xfrm>
        </p:grpSpPr>
        <p:pic>
          <p:nvPicPr>
            <p:cNvPr id="7" name="Picture 6">
              <a:extLst>
                <a:ext uri="{FF2B5EF4-FFF2-40B4-BE49-F238E27FC236}">
                  <a16:creationId xmlns:a16="http://schemas.microsoft.com/office/drawing/2014/main" id="{4A586625-9F1E-D43B-EEE9-1EE9BBF8C2B9}"/>
                </a:ext>
              </a:extLst>
            </p:cNvPr>
            <p:cNvPicPr/>
            <p:nvPr/>
          </p:nvPicPr>
          <p:blipFill>
            <a:blip r:embed="rId3"/>
            <a:stretch>
              <a:fillRect/>
            </a:stretch>
          </p:blipFill>
          <p:spPr>
            <a:xfrm>
              <a:off x="0" y="0"/>
              <a:ext cx="1123950" cy="1123950"/>
            </a:xfrm>
            <a:prstGeom prst="rect">
              <a:avLst/>
            </a:prstGeom>
          </p:spPr>
        </p:pic>
      </p:grpSp>
      <p:pic>
        <p:nvPicPr>
          <p:cNvPr id="8" name="Picture 7">
            <a:extLst>
              <a:ext uri="{FF2B5EF4-FFF2-40B4-BE49-F238E27FC236}">
                <a16:creationId xmlns:a16="http://schemas.microsoft.com/office/drawing/2014/main" id="{C38DD93C-959D-F064-AB33-813FBAACFACA}"/>
              </a:ext>
            </a:extLst>
          </p:cNvPr>
          <p:cNvPicPr/>
          <p:nvPr/>
        </p:nvPicPr>
        <p:blipFill>
          <a:blip r:embed="rId4"/>
          <a:stretch>
            <a:fillRect/>
          </a:stretch>
        </p:blipFill>
        <p:spPr>
          <a:xfrm>
            <a:off x="7026441" y="2093494"/>
            <a:ext cx="8686801" cy="7050505"/>
          </a:xfrm>
          <a:prstGeom prst="rect">
            <a:avLst/>
          </a:prstGeom>
        </p:spPr>
      </p:pic>
    </p:spTree>
    <p:extLst>
      <p:ext uri="{BB962C8B-B14F-4D97-AF65-F5344CB8AC3E}">
        <p14:creationId xmlns:p14="http://schemas.microsoft.com/office/powerpoint/2010/main" val="192940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602FD5-AC3A-6243-AC4D-86FEE0ED47C3}"/>
              </a:ext>
            </a:extLst>
          </p:cNvPr>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a:extLst>
              <a:ext uri="{FF2B5EF4-FFF2-40B4-BE49-F238E27FC236}">
                <a16:creationId xmlns:a16="http://schemas.microsoft.com/office/drawing/2014/main" id="{103F0FB7-0C0F-2D50-578A-B9EE4B444281}"/>
              </a:ext>
            </a:extLst>
          </p:cNvPr>
          <p:cNvSpPr>
            <a:spLocks noGrp="1"/>
          </p:cNvSpPr>
          <p:nvPr>
            <p:ph type="ftr" sz="quarter" idx="11"/>
          </p:nvPr>
        </p:nvSpPr>
        <p:spPr>
          <a:xfrm>
            <a:off x="5529278" y="9689678"/>
            <a:ext cx="8138596" cy="547688"/>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DEPARTMENT OF</a:t>
            </a:r>
            <a:r>
              <a:rPr lang="en-IN" sz="1400" b="1" dirty="0">
                <a:latin typeface="Calibri" panose="020F0502020204030204" pitchFamily="34" charset="0"/>
                <a:ea typeface="Calibri" panose="020F0502020204030204" pitchFamily="34" charset="0"/>
                <a:cs typeface="Calibri" panose="020F0502020204030204" pitchFamily="34" charset="0"/>
              </a:rPr>
              <a:t> COMPUTER OF SCIENCE &amp; ENGINEERING</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a:t>/ deployment of </a:t>
            </a:r>
            <a:r>
              <a:rPr lang="en-IN" dirty="0" err="1"/>
              <a:t>medibot</a:t>
            </a:r>
            <a:r>
              <a:rPr lang="en-IN" dirty="0"/>
              <a:t> in healthcare</a:t>
            </a:r>
          </a:p>
          <a:p>
            <a:endParaRPr lang="en-IN" dirty="0"/>
          </a:p>
        </p:txBody>
      </p:sp>
      <p:sp>
        <p:nvSpPr>
          <p:cNvPr id="4" name="Slide Number Placeholder 3">
            <a:extLst>
              <a:ext uri="{FF2B5EF4-FFF2-40B4-BE49-F238E27FC236}">
                <a16:creationId xmlns:a16="http://schemas.microsoft.com/office/drawing/2014/main" id="{1E1028CA-A772-5452-AEAB-2238D00037A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13</a:t>
            </a:fld>
            <a:endParaRPr lang="en-US"/>
          </a:p>
        </p:txBody>
      </p:sp>
      <p:grpSp>
        <p:nvGrpSpPr>
          <p:cNvPr id="6" name="Group 5">
            <a:extLst>
              <a:ext uri="{FF2B5EF4-FFF2-40B4-BE49-F238E27FC236}">
                <a16:creationId xmlns:a16="http://schemas.microsoft.com/office/drawing/2014/main" id="{78F89DE0-76F1-8964-3261-D74D7EE83AE4}"/>
              </a:ext>
            </a:extLst>
          </p:cNvPr>
          <p:cNvGrpSpPr/>
          <p:nvPr/>
        </p:nvGrpSpPr>
        <p:grpSpPr>
          <a:xfrm>
            <a:off x="15905747" y="524063"/>
            <a:ext cx="1703553" cy="1791325"/>
            <a:chOff x="0" y="0"/>
            <a:chExt cx="1123950" cy="1123950"/>
          </a:xfrm>
        </p:grpSpPr>
        <p:pic>
          <p:nvPicPr>
            <p:cNvPr id="7" name="Picture 6">
              <a:extLst>
                <a:ext uri="{FF2B5EF4-FFF2-40B4-BE49-F238E27FC236}">
                  <a16:creationId xmlns:a16="http://schemas.microsoft.com/office/drawing/2014/main" id="{39055F85-520A-CEA9-8EFE-23FC5ACB5F1E}"/>
                </a:ext>
              </a:extLst>
            </p:cNvPr>
            <p:cNvPicPr/>
            <p:nvPr/>
          </p:nvPicPr>
          <p:blipFill>
            <a:blip r:embed="rId2"/>
            <a:stretch>
              <a:fillRect/>
            </a:stretch>
          </p:blipFill>
          <p:spPr>
            <a:xfrm>
              <a:off x="0" y="0"/>
              <a:ext cx="1123950" cy="1123950"/>
            </a:xfrm>
            <a:prstGeom prst="rect">
              <a:avLst/>
            </a:prstGeom>
          </p:spPr>
        </p:pic>
      </p:grpSp>
      <p:pic>
        <p:nvPicPr>
          <p:cNvPr id="8" name="Picture 7">
            <a:extLst>
              <a:ext uri="{FF2B5EF4-FFF2-40B4-BE49-F238E27FC236}">
                <a16:creationId xmlns:a16="http://schemas.microsoft.com/office/drawing/2014/main" id="{0CDDD0FE-003B-C669-1E65-99211A542F78}"/>
              </a:ext>
            </a:extLst>
          </p:cNvPr>
          <p:cNvPicPr/>
          <p:nvPr/>
        </p:nvPicPr>
        <p:blipFill>
          <a:blip r:embed="rId3"/>
          <a:stretch>
            <a:fillRect/>
          </a:stretch>
        </p:blipFill>
        <p:spPr>
          <a:xfrm>
            <a:off x="0" y="2069432"/>
            <a:ext cx="5534527" cy="7363326"/>
          </a:xfrm>
          <a:prstGeom prst="rect">
            <a:avLst/>
          </a:prstGeom>
        </p:spPr>
      </p:pic>
      <p:pic>
        <p:nvPicPr>
          <p:cNvPr id="9" name="Picture 8">
            <a:extLst>
              <a:ext uri="{FF2B5EF4-FFF2-40B4-BE49-F238E27FC236}">
                <a16:creationId xmlns:a16="http://schemas.microsoft.com/office/drawing/2014/main" id="{C1B8175A-708E-E70D-BB76-B1A5B79B0500}"/>
              </a:ext>
            </a:extLst>
          </p:cNvPr>
          <p:cNvPicPr/>
          <p:nvPr/>
        </p:nvPicPr>
        <p:blipFill>
          <a:blip r:embed="rId4"/>
          <a:stretch>
            <a:fillRect/>
          </a:stretch>
        </p:blipFill>
        <p:spPr>
          <a:xfrm>
            <a:off x="4908884" y="2069432"/>
            <a:ext cx="6208295" cy="7098630"/>
          </a:xfrm>
          <a:prstGeom prst="rect">
            <a:avLst/>
          </a:prstGeom>
        </p:spPr>
      </p:pic>
      <p:pic>
        <p:nvPicPr>
          <p:cNvPr id="10" name="Picture 9">
            <a:extLst>
              <a:ext uri="{FF2B5EF4-FFF2-40B4-BE49-F238E27FC236}">
                <a16:creationId xmlns:a16="http://schemas.microsoft.com/office/drawing/2014/main" id="{53C2093D-131B-2495-2FF9-0899076780A4}"/>
              </a:ext>
            </a:extLst>
          </p:cNvPr>
          <p:cNvPicPr/>
          <p:nvPr/>
        </p:nvPicPr>
        <p:blipFill>
          <a:blip r:embed="rId5"/>
          <a:stretch>
            <a:fillRect/>
          </a:stretch>
        </p:blipFill>
        <p:spPr>
          <a:xfrm>
            <a:off x="10323095" y="1876926"/>
            <a:ext cx="4860756" cy="7555832"/>
          </a:xfrm>
          <a:prstGeom prst="rect">
            <a:avLst/>
          </a:prstGeom>
        </p:spPr>
      </p:pic>
    </p:spTree>
    <p:extLst>
      <p:ext uri="{BB962C8B-B14F-4D97-AF65-F5344CB8AC3E}">
        <p14:creationId xmlns:p14="http://schemas.microsoft.com/office/powerpoint/2010/main" val="572088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CF2EE0-795C-CECC-6DC3-60906EF3A7A8}"/>
              </a:ext>
            </a:extLst>
          </p:cNvPr>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a:extLst>
              <a:ext uri="{FF2B5EF4-FFF2-40B4-BE49-F238E27FC236}">
                <a16:creationId xmlns:a16="http://schemas.microsoft.com/office/drawing/2014/main" id="{F50CA3C6-46C1-6A80-9AAC-3D457FA02581}"/>
              </a:ext>
            </a:extLst>
          </p:cNvPr>
          <p:cNvSpPr>
            <a:spLocks noGrp="1"/>
          </p:cNvSpPr>
          <p:nvPr>
            <p:ph type="ftr" sz="quarter" idx="11"/>
          </p:nvPr>
        </p:nvSpPr>
        <p:spPr/>
        <p:txBody>
          <a:bodyPr/>
          <a:lstStyle/>
          <a:p>
            <a:r>
              <a:rPr lang="en-IN"/>
              <a:t>DEPARTMENT OF COMPUTER SCIENCE &amp; ENGINEERING   / PROJECT TITLE</a:t>
            </a:r>
          </a:p>
        </p:txBody>
      </p:sp>
      <p:sp>
        <p:nvSpPr>
          <p:cNvPr id="4" name="Slide Number Placeholder 3">
            <a:extLst>
              <a:ext uri="{FF2B5EF4-FFF2-40B4-BE49-F238E27FC236}">
                <a16:creationId xmlns:a16="http://schemas.microsoft.com/office/drawing/2014/main" id="{DC9E8944-6CB8-F00C-B717-8DBE7E32A03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pic>
        <p:nvPicPr>
          <p:cNvPr id="6" name="Picture 5">
            <a:extLst>
              <a:ext uri="{FF2B5EF4-FFF2-40B4-BE49-F238E27FC236}">
                <a16:creationId xmlns:a16="http://schemas.microsoft.com/office/drawing/2014/main" id="{AF901674-DC46-4421-94BE-F72D21E7F876}"/>
              </a:ext>
            </a:extLst>
          </p:cNvPr>
          <p:cNvPicPr>
            <a:picLocks noChangeAspect="1"/>
          </p:cNvPicPr>
          <p:nvPr/>
        </p:nvPicPr>
        <p:blipFill>
          <a:blip r:embed="rId2"/>
          <a:stretch>
            <a:fillRect/>
          </a:stretch>
        </p:blipFill>
        <p:spPr>
          <a:xfrm>
            <a:off x="846953" y="416268"/>
            <a:ext cx="6362700" cy="8515350"/>
          </a:xfrm>
          <a:prstGeom prst="rect">
            <a:avLst/>
          </a:prstGeom>
        </p:spPr>
      </p:pic>
      <p:pic>
        <p:nvPicPr>
          <p:cNvPr id="16" name="Picture 15">
            <a:extLst>
              <a:ext uri="{FF2B5EF4-FFF2-40B4-BE49-F238E27FC236}">
                <a16:creationId xmlns:a16="http://schemas.microsoft.com/office/drawing/2014/main" id="{0CB1EDD2-746E-9864-0037-7A204C25DFBE}"/>
              </a:ext>
            </a:extLst>
          </p:cNvPr>
          <p:cNvPicPr>
            <a:picLocks noChangeAspect="1"/>
          </p:cNvPicPr>
          <p:nvPr/>
        </p:nvPicPr>
        <p:blipFill>
          <a:blip r:embed="rId3"/>
          <a:stretch>
            <a:fillRect/>
          </a:stretch>
        </p:blipFill>
        <p:spPr>
          <a:xfrm>
            <a:off x="8928272" y="757198"/>
            <a:ext cx="6362700" cy="8553450"/>
          </a:xfrm>
          <a:prstGeom prst="rect">
            <a:avLst/>
          </a:prstGeom>
        </p:spPr>
      </p:pic>
    </p:spTree>
    <p:extLst>
      <p:ext uri="{BB962C8B-B14F-4D97-AF65-F5344CB8AC3E}">
        <p14:creationId xmlns:p14="http://schemas.microsoft.com/office/powerpoint/2010/main" val="972519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1B5B8B-F0AA-79FE-FA02-D13A2B0736D9}"/>
              </a:ext>
            </a:extLst>
          </p:cNvPr>
          <p:cNvSpPr>
            <a:spLocks noGrp="1"/>
          </p:cNvSpPr>
          <p:nvPr>
            <p:ph type="dt" sz="half" idx="10"/>
          </p:nvPr>
        </p:nvSpPr>
        <p:spPr/>
        <p:txBody>
          <a:bodyPr/>
          <a:lstStyle/>
          <a:p>
            <a:fld id="{84B1D917-16EA-4D69-8845-9832B0C2F6AA}" type="datetime4">
              <a:rPr lang="en-US" smtClean="0"/>
              <a:pPr/>
              <a:t>May 6, 2026</a:t>
            </a:fld>
            <a:endParaRPr lang="en-US"/>
          </a:p>
        </p:txBody>
      </p:sp>
      <p:sp>
        <p:nvSpPr>
          <p:cNvPr id="3" name="Footer Placeholder 2">
            <a:extLst>
              <a:ext uri="{FF2B5EF4-FFF2-40B4-BE49-F238E27FC236}">
                <a16:creationId xmlns:a16="http://schemas.microsoft.com/office/drawing/2014/main" id="{455A0F1B-8B8D-FBD6-A16A-727A7FF4247D}"/>
              </a:ext>
            </a:extLst>
          </p:cNvPr>
          <p:cNvSpPr>
            <a:spLocks noGrp="1"/>
          </p:cNvSpPr>
          <p:nvPr>
            <p:ph type="ftr" sz="quarter" idx="11"/>
          </p:nvPr>
        </p:nvSpPr>
        <p:spPr/>
        <p:txBody>
          <a:bodyPr/>
          <a:lstStyle/>
          <a:p>
            <a:r>
              <a:rPr lang="en-IN"/>
              <a:t>DEPARTMENT OF COMPUTER SCIENCE &amp; ENGINEERING   / PROJECT TITLE</a:t>
            </a:r>
          </a:p>
        </p:txBody>
      </p:sp>
      <p:sp>
        <p:nvSpPr>
          <p:cNvPr id="4" name="Slide Number Placeholder 3">
            <a:extLst>
              <a:ext uri="{FF2B5EF4-FFF2-40B4-BE49-F238E27FC236}">
                <a16:creationId xmlns:a16="http://schemas.microsoft.com/office/drawing/2014/main" id="{E0A79A20-3E10-BF74-2F6D-E3DA54DBDCF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pic>
        <p:nvPicPr>
          <p:cNvPr id="6" name="Picture 5">
            <a:extLst>
              <a:ext uri="{FF2B5EF4-FFF2-40B4-BE49-F238E27FC236}">
                <a16:creationId xmlns:a16="http://schemas.microsoft.com/office/drawing/2014/main" id="{04C43F04-9794-3F14-E386-758B2D716A26}"/>
              </a:ext>
            </a:extLst>
          </p:cNvPr>
          <p:cNvPicPr>
            <a:picLocks noChangeAspect="1"/>
          </p:cNvPicPr>
          <p:nvPr/>
        </p:nvPicPr>
        <p:blipFill>
          <a:blip r:embed="rId2"/>
          <a:stretch>
            <a:fillRect/>
          </a:stretch>
        </p:blipFill>
        <p:spPr>
          <a:xfrm>
            <a:off x="2792041" y="437063"/>
            <a:ext cx="5409777" cy="8402735"/>
          </a:xfrm>
          <a:prstGeom prst="rect">
            <a:avLst/>
          </a:prstGeom>
        </p:spPr>
      </p:pic>
      <p:pic>
        <p:nvPicPr>
          <p:cNvPr id="8" name="Picture 7">
            <a:extLst>
              <a:ext uri="{FF2B5EF4-FFF2-40B4-BE49-F238E27FC236}">
                <a16:creationId xmlns:a16="http://schemas.microsoft.com/office/drawing/2014/main" id="{F1DE9FE9-8E3F-F540-F1BE-5DCE77A2B6B4}"/>
              </a:ext>
            </a:extLst>
          </p:cNvPr>
          <p:cNvPicPr>
            <a:picLocks noChangeAspect="1"/>
          </p:cNvPicPr>
          <p:nvPr/>
        </p:nvPicPr>
        <p:blipFill>
          <a:blip r:embed="rId3"/>
          <a:stretch>
            <a:fillRect/>
          </a:stretch>
        </p:blipFill>
        <p:spPr>
          <a:xfrm>
            <a:off x="9832715" y="589935"/>
            <a:ext cx="5304823" cy="7805006"/>
          </a:xfrm>
          <a:prstGeom prst="rect">
            <a:avLst/>
          </a:prstGeom>
        </p:spPr>
      </p:pic>
    </p:spTree>
    <p:extLst>
      <p:ext uri="{BB962C8B-B14F-4D97-AF65-F5344CB8AC3E}">
        <p14:creationId xmlns:p14="http://schemas.microsoft.com/office/powerpoint/2010/main" val="3022762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234547" y="3345873"/>
            <a:ext cx="4592782" cy="92333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IN" sz="5400" b="1" spc="50" dirty="0">
                <a:ln w="11430"/>
                <a:solidFill>
                  <a:srgbClr val="002060"/>
                </a:solidFill>
                <a:effectLst>
                  <a:outerShdw blurRad="76200" dist="50800" dir="5400000" algn="tl" rotWithShape="0">
                    <a:srgbClr val="000000">
                      <a:alpha val="65000"/>
                    </a:srgbClr>
                  </a:outerShdw>
                </a:effectLst>
                <a:latin typeface="Times New Roman" pitchFamily="18" charset="0"/>
                <a:cs typeface="Times New Roman" pitchFamily="18" charset="0"/>
              </a:rPr>
              <a:t>THANK YOU</a:t>
            </a:r>
          </a:p>
        </p:txBody>
      </p:sp>
      <p:pic>
        <p:nvPicPr>
          <p:cNvPr id="6" name="Picture 3" descr="C:\Users\Sharad\Desktop\download veltech.png"/>
          <p:cNvPicPr>
            <a:picLocks noChangeAspect="1" noChangeArrowheads="1"/>
          </p:cNvPicPr>
          <p:nvPr/>
        </p:nvPicPr>
        <p:blipFill>
          <a:blip r:embed="rId2"/>
          <a:srcRect/>
          <a:stretch>
            <a:fillRect/>
          </a:stretch>
        </p:blipFill>
        <p:spPr bwMode="auto">
          <a:xfrm>
            <a:off x="11063580" y="6972606"/>
            <a:ext cx="4295554" cy="1438275"/>
          </a:xfrm>
          <a:prstGeom prst="rect">
            <a:avLst/>
          </a:prstGeom>
          <a:noFill/>
        </p:spPr>
      </p:pic>
      <p:sp>
        <p:nvSpPr>
          <p:cNvPr id="9" name="Slide Number Placeholder 8">
            <a:extLst>
              <a:ext uri="{FF2B5EF4-FFF2-40B4-BE49-F238E27FC236}">
                <a16:creationId xmlns:a16="http://schemas.microsoft.com/office/drawing/2014/main" id="{DE467E1A-CA3B-20EC-133C-FDE72F8F5F6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sp>
        <p:nvSpPr>
          <p:cNvPr id="10" name="Footer Placeholder 9">
            <a:extLst>
              <a:ext uri="{FF2B5EF4-FFF2-40B4-BE49-F238E27FC236}">
                <a16:creationId xmlns:a16="http://schemas.microsoft.com/office/drawing/2014/main" id="{C085D79C-5367-5D11-F316-8E41FBE4E674}"/>
              </a:ext>
            </a:extLst>
          </p:cNvPr>
          <p:cNvSpPr>
            <a:spLocks noGrp="1"/>
          </p:cNvSpPr>
          <p:nvPr>
            <p:ph type="ftr" sz="quarter" idx="11"/>
          </p:nvPr>
        </p:nvSpPr>
        <p:spPr>
          <a:xfrm>
            <a:off x="4306529" y="9689678"/>
            <a:ext cx="9247239" cy="547688"/>
          </a:xfrm>
        </p:spPr>
        <p:txBody>
          <a:bodyPr/>
          <a:lstStyle/>
          <a:p>
            <a:r>
              <a:rPr lang="en-IN" dirty="0"/>
              <a:t>DEPARTMENT OF ARTIFICIAL INTELLIGENCE &amp; MACHINE LEARNING (AIML)    / / deployment of </a:t>
            </a:r>
            <a:r>
              <a:rPr lang="en-IN" dirty="0" err="1"/>
              <a:t>medibot</a:t>
            </a:r>
            <a:r>
              <a:rPr lang="en-IN" dirty="0"/>
              <a:t> in healthcare</a:t>
            </a:r>
          </a:p>
          <a:p>
            <a:endParaRPr lang="en-IN" dirty="0"/>
          </a:p>
        </p:txBody>
      </p:sp>
      <p:sp>
        <p:nvSpPr>
          <p:cNvPr id="11" name="Date Placeholder 10">
            <a:extLst>
              <a:ext uri="{FF2B5EF4-FFF2-40B4-BE49-F238E27FC236}">
                <a16:creationId xmlns:a16="http://schemas.microsoft.com/office/drawing/2014/main" id="{245F8EC2-D106-5A27-3961-508236D30CF6}"/>
              </a:ext>
            </a:extLst>
          </p:cNvPr>
          <p:cNvSpPr>
            <a:spLocks noGrp="1"/>
          </p:cNvSpPr>
          <p:nvPr>
            <p:ph type="dt" sz="half" idx="10"/>
          </p:nvPr>
        </p:nvSpPr>
        <p:spPr/>
        <p:txBody>
          <a:bodyPr/>
          <a:lstStyle/>
          <a:p>
            <a:fld id="{FC19F4A3-E32D-4520-B9BC-6787D8D72445}" type="datetime4">
              <a:rPr lang="en-US" smtClean="0"/>
              <a:pPr/>
              <a:t>May 6, 2026</a:t>
            </a:fld>
            <a:endParaRPr lang="en-US"/>
          </a:p>
        </p:txBody>
      </p:sp>
      <p:pic>
        <p:nvPicPr>
          <p:cNvPr id="12" name="Picture 2" descr="C:\Users\Sharad\Desktop\Logo-Final-A veltech.png">
            <a:extLst>
              <a:ext uri="{FF2B5EF4-FFF2-40B4-BE49-F238E27FC236}">
                <a16:creationId xmlns:a16="http://schemas.microsoft.com/office/drawing/2014/main" id="{02DAE25E-C86A-BBED-9DA8-E19B5DADF85E}"/>
              </a:ext>
            </a:extLst>
          </p:cNvPr>
          <p:cNvPicPr>
            <a:picLocks noChangeAspect="1" noChangeArrowheads="1"/>
          </p:cNvPicPr>
          <p:nvPr/>
        </p:nvPicPr>
        <p:blipFill>
          <a:blip r:embed="rId3"/>
          <a:srcRect/>
          <a:stretch>
            <a:fillRect/>
          </a:stretch>
        </p:blipFill>
        <p:spPr bwMode="auto">
          <a:xfrm>
            <a:off x="15614000" y="7216304"/>
            <a:ext cx="1160907" cy="969050"/>
          </a:xfrm>
          <a:prstGeom prst="rect">
            <a:avLst/>
          </a:prstGeom>
          <a:noFill/>
        </p:spPr>
      </p:pic>
      <p:pic>
        <p:nvPicPr>
          <p:cNvPr id="3" name="Picture 2">
            <a:extLst>
              <a:ext uri="{FF2B5EF4-FFF2-40B4-BE49-F238E27FC236}">
                <a16:creationId xmlns:a16="http://schemas.microsoft.com/office/drawing/2014/main" id="{3354F33A-9CB3-D842-1875-4FF8341BA4AC}"/>
              </a:ext>
            </a:extLst>
          </p:cNvPr>
          <p:cNvPicPr>
            <a:picLocks noChangeAspect="1"/>
          </p:cNvPicPr>
          <p:nvPr/>
        </p:nvPicPr>
        <p:blipFill>
          <a:blip r:embed="rId4"/>
          <a:stretch>
            <a:fillRect/>
          </a:stretch>
        </p:blipFill>
        <p:spPr>
          <a:xfrm>
            <a:off x="16774907" y="7080119"/>
            <a:ext cx="1380357" cy="1105235"/>
          </a:xfrm>
          <a:prstGeom prst="rect">
            <a:avLst/>
          </a:prstGeom>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667</TotalTime>
  <Words>1009</Words>
  <Application>Microsoft Office PowerPoint</Application>
  <PresentationFormat>Custom</PresentationFormat>
  <Paragraphs>144</Paragraphs>
  <Slides>16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Calibri</vt:lpstr>
      <vt:lpstr>Wingdings</vt:lpstr>
      <vt:lpstr>Verdana</vt:lpstr>
      <vt:lpstr>Arial</vt:lpstr>
      <vt:lpstr>Times New Roman</vt:lpstr>
      <vt:lpstr>Calibri Light</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Sharad</dc:creator>
  <cp:lastModifiedBy>sasank boddu</cp:lastModifiedBy>
  <cp:revision>36</cp:revision>
  <dcterms:modified xsi:type="dcterms:W3CDTF">2026-05-06T05:22:35Z</dcterms:modified>
</cp:coreProperties>
</file>